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[00:00 - 05:00] INTRO &amp; FRAMING:</a:t>
            </a:r>
          </a:p>
          <a:p>
            <a:r>
              <a:t>Welcome to Unit 01 In-Class Coding Clinic. Today we bridge the gap between naive exploratory data science prototypes and production data engineering engines. Set the tone: We are looking at real-world production outages and learning how modern engines defend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[05:00 - 10:00] AGENDA REVIEW:</a:t>
            </a:r>
          </a:p>
          <a:p>
            <a:r>
              <a:t>Walk students through the 75-minute clinic structure. Remind them that in Slot 1 they did the asynchronous reading, and today in Slot 2 they will actively code the transition notebook alongside you. Ensure every student has their laptop open and terminal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[10:00 - 18:00] INCIDENT RETROSPECTIVE:</a:t>
            </a:r>
          </a:p>
          <a:p>
            <a:r>
              <a:t>Hook the students with this real-world production incident. Ask the class: 'Why do you think the naive approach passed local testing but collapsed in production?' Emphasize the difference between processing 50 rows in a sample CSV vs 100,000 events/sec under real production SLAs.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[18:00 - 20:00] SECTION TRANSITION:</a:t>
            </a:r>
          </a:p>
          <a:p>
            <a:r>
              <a:t>Transition into dissecting the naive code students often inherit from data science teams or write themselves. Frame this with empathy: Pandas, PIL, and Pickle are great for exploration, but dangerous in production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[20:00 - 30:00] CODE WALKTHROUGH:</a:t>
            </a:r>
          </a:p>
          <a:p>
            <a:r>
              <a:t>Walk through the naive snippet line-by-line. Point out the specific line where memory bloat or CPU locking occurs. Ask students to identify why the Python GIL or uncompressed memory representations prevent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[30:00 - 33:00] SECTION TRANSITION:</a:t>
            </a:r>
          </a:p>
          <a:p>
            <a:r>
              <a:t>Introduce the specialized engine. Explain that we are not abandoning Python; we are using Python as an orchestrator for high-performance compiled engines (C++, Rust, Arrow, DuckDB) that run outside the GIL.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[33:00 - 40:00] WHITEBOARD SPARRING:</a:t>
            </a:r>
          </a:p>
          <a:p>
            <a:r>
              <a:t>Use the whiteboard to contrast the memory layouts shown on this slide. Contrast row-pointer arrays (pointing to scattered PyObjects in memory) against contiguous Arrow columnar memory buffers. Explain CPU cache locality and SIMD instruction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[40:00 - 52:00] LIVE CODING CLINIC ('I Do'):</a:t>
            </a:r>
          </a:p>
          <a:p>
            <a:r>
              <a:t>Switch screen to Jupyter Notebook: content/notebooks/unit_01_ds_to_engine.ipynb.</a:t>
            </a:r>
          </a:p>
          <a:p>
            <a:r>
              <a:t>Demonstrate running the naive cell, then live-code the engine refactoring cell. Highlight the critical syntax differences shown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[52:00 - 60:00] BENCHMARK &amp; PARITY VERIFICATION:</a:t>
            </a:r>
          </a:p>
          <a:p>
            <a:r>
              <a:t>Review the benchmark numbers with the class. Crucial teaching point: Speed without parity is useless! Emphasize that Cell 7 in the notebook proves the engine outputs identical mathematical and business results as the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[60:00 - 63:00] SECTION TRANSITION:</a:t>
            </a:r>
          </a:p>
          <a:p>
            <a:r>
              <a:t>Transition to defensive engineering. Ask students: 'What happens when upstream sends dirty data or nulls?' In production, 90% of data engineering is handling anomalies gracefully without crashing.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[63:00 - 70:00] STUDENT HANDS-ON HACKING:</a:t>
            </a:r>
          </a:p>
          <a:p>
            <a:r>
              <a:t>Circulate around the room while students execute Cell 8 of their notebook. Help students who encounter syntax errors or edge cases. Encourage peer sparring: have students test each other's defensive error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[70:00 - 75:00] WRAP-UP &amp; NEXT STEPS:</a:t>
            </a:r>
          </a:p>
          <a:p>
            <a:r>
              <a:t>Reiterate the core mental model learned today. Explain how this directly bridges to Slot 3 (asynchronous lab guide onboarding) and Slot 4 (in-class lab hacking). Remind students to commit their completed transition notebook to their git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/>
          <a:lstStyle/>
          <a:p>
            <a:pPr algn="ctr">
              <a:spcAft>
                <a:spcPts val="1000"/>
              </a:spcAft>
              <a:defRPr sz="5600" b="1">
                <a:solidFill>
                  <a:srgbClr val="FFFFFF"/>
                </a:solidFill>
                <a:latin typeface="Arial"/>
              </a:defRPr>
            </a:pPr>
            <a:r>
              <a:t>AI4W</a:t>
            </a:r>
          </a:p>
          <a:p>
            <a:pPr>
              <a:defRPr sz="1600" b="1">
                <a:solidFill>
                  <a:srgbClr val="FFC001"/>
                </a:solidFill>
                <a:latin typeface="Calibri"/>
              </a:defRPr>
            </a:pPr>
            <a:r>
              <a:t>Intel® AI for Workforce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164592" cy="685800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137160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2055"/>
                </a:solidFill>
                <a:latin typeface="Arial"/>
              </a:defRPr>
            </a:pPr>
            <a:r>
              <a:t>UNIT 01: RELATIONAL FOUNDATIONS</a:t>
            </a:r>
          </a:p>
          <a:p>
            <a:pPr>
              <a:spcAft>
                <a:spcPts val="1400"/>
              </a:spcAft>
              <a:defRPr sz="3000" b="1">
                <a:solidFill>
                  <a:srgbClr val="0A2540"/>
                </a:solidFill>
                <a:latin typeface="Arial"/>
              </a:defRPr>
            </a:pPr>
            <a:r>
              <a:t>Point-in-Time Event Joins</a:t>
            </a:r>
          </a:p>
          <a:p>
            <a:pPr>
              <a:spcAft>
                <a:spcPts val="2400"/>
              </a:spcAft>
              <a:defRPr sz="1600">
                <a:solidFill>
                  <a:srgbClr val="64748B"/>
                </a:solidFill>
                <a:latin typeface="Calibri"/>
              </a:defRPr>
            </a:pPr>
            <a:r>
              <a:t>Transitioning from Pandas merge_asof to DuckDB ASOF JOIN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COSC 2060: Modern Data Engineering | Instructor: Tim Swarm | LCCC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SYNCHRONOUS AGENDA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75-Minute Clinic Flow &amp; Roadmap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Balancing Incident Analysis, Whiteboard Sparring, and Live Hands-on Refactoring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002055"/>
                </a:solidFill>
                <a:latin typeface="Arial"/>
              </a:defRPr>
            </a:pPr>
            <a:r>
              <a:t>Block 1: Analysis &amp; Sparring (35m)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00 - 10m: </a:t>
            </a:r>
            <a:r>
              <a:rPr sz="1300">
                <a:solidFill>
                  <a:srgbClr val="1E293B"/>
                </a:solidFill>
              </a:rPr>
              <a:t>Production Incident Retrospective &amp; Financial SLA Outage Impact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10 - 25m: </a:t>
            </a:r>
            <a:r>
              <a:rPr sz="1300">
                <a:solidFill>
                  <a:srgbClr val="1E293B"/>
                </a:solidFill>
              </a:rPr>
              <a:t>Architecture Whiteboard Sparring: Why Naive Approaches Choke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25 - 35m: </a:t>
            </a:r>
            <a:r>
              <a:rPr sz="1300">
                <a:solidFill>
                  <a:srgbClr val="1E293B"/>
                </a:solidFill>
              </a:rPr>
              <a:t>Naive Data Science Prototype Code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DF0"/>
          </a:solidFill>
          <a:ln w="19050">
            <a:solidFill>
              <a:srgbClr val="F0C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8C5F00"/>
                </a:solidFill>
                <a:latin typeface="Arial"/>
              </a:defRPr>
            </a:pPr>
            <a:r>
              <a:t>Block 2: Live Clinic &amp; Defense (40m)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35 - 55m: </a:t>
            </a:r>
            <a:r>
              <a:rPr sz="1300">
                <a:solidFill>
                  <a:srgbClr val="1E293B"/>
                </a:solidFill>
              </a:rPr>
              <a:t>Live Coding Clinic ('I Do, We Do'): Engine Refactoring in Notebook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55 - 65m: </a:t>
            </a:r>
            <a:r>
              <a:rPr sz="1300">
                <a:solidFill>
                  <a:srgbClr val="1E293B"/>
                </a:solidFill>
              </a:rPr>
              <a:t>Profiling, Benchmarks &amp; 100% Output Parity Verification Gate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65 - 75m: </a:t>
            </a:r>
            <a:r>
              <a:rPr sz="1300">
                <a:solidFill>
                  <a:srgbClr val="1E293B"/>
                </a:solidFill>
              </a:rPr>
              <a:t>Defensive Take-Home Challenge &amp; Bridge to Slot 3/4 Applied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WAR STORY &amp; ROOT CAUSE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Production Incident Retrospective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The $180,000 Transit Dispatch Blackout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Incident Breakdown &amp; Business Cost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Trigger: </a:t>
            </a:r>
            <a:r>
              <a:rPr sz="1400">
                <a:solidFill>
                  <a:srgbClr val="1E293B"/>
                </a:solidFill>
                <a:latin typeface="Calibri"/>
              </a:rPr>
              <a:t>A high-frequency GPS ping stream (100k events/sec) was joined to historical weather stations using Pandas pd.merge_asof on a single web worker.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Failure: </a:t>
            </a:r>
            <a:r>
              <a:rPr sz="1400">
                <a:solidFill>
                  <a:srgbClr val="1E293B"/>
                </a:solidFill>
                <a:latin typeface="Calibri"/>
              </a:rPr>
              <a:t>Pandas duplicated the entire left DataFrame in RAM, exhausted worker memory (OOMKilled at 16GB), and caused cascading API timeouts across all bus dispatchers.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Cost: </a:t>
            </a:r>
            <a:r>
              <a:rPr sz="1400">
                <a:solidFill>
                  <a:srgbClr val="1E293B"/>
                </a:solidFill>
                <a:latin typeface="Calibri"/>
              </a:rPr>
              <a:t>14 hours of degraded transit dispatching, $180,000 in regional transit penalty fines, and manual route reconciliations.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Root Cause: </a:t>
            </a:r>
            <a:r>
              <a:rPr sz="1400">
                <a:solidFill>
                  <a:srgbClr val="1E293B"/>
                </a:solidFill>
                <a:latin typeface="Calibri"/>
              </a:rPr>
              <a:t>Naive single-threaded pandas eager execution, row-pointer overhead, and lack of memory-mapped out-of-core execution engines.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82880" cy="256032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C001"/>
                </a:solidFill>
                <a:latin typeface="Arial"/>
              </a:defRPr>
            </a:pPr>
            <a:r>
              <a:t>SECTION 01</a:t>
            </a:r>
          </a:p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The Naive Data Science Prototype</a:t>
            </a:r>
          </a:p>
          <a:p>
            <a:pPr>
              <a:defRPr sz="1800">
                <a:solidFill>
                  <a:srgbClr val="C8E1FA"/>
                </a:solidFill>
                <a:latin typeface="Calibri"/>
              </a:defRPr>
            </a:pPr>
            <a:r>
              <a:t>Why exploratory single-threaded tools hit a hard scaling wall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SECTION 01: NAIVE PROTOTYPE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The Prototype Code &amp; Scaling Ceiling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Analyzing the mechanical failure modes of unconstrained exploratory scripts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Naive Pandas merge_asof Pattern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Eager Evaluation: </a:t>
            </a:r>
            <a:r>
              <a:rPr sz="1250">
                <a:solidFill>
                  <a:srgbClr val="1E293B"/>
                </a:solidFill>
              </a:rPr>
              <a:t>Loads entire dataset into uncompressed Python memory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Quadratic Pointer Scan: </a:t>
            </a:r>
            <a:r>
              <a:rPr sz="1250">
                <a:solidFill>
                  <a:srgbClr val="1E293B"/>
                </a:solidFill>
              </a:rPr>
              <a:t>Single-threaded loop searching backwards for nearest timestamp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Memory Duplication: </a:t>
            </a:r>
            <a:r>
              <a:rPr sz="1250">
                <a:solidFill>
                  <a:srgbClr val="1E293B"/>
                </a:solidFill>
              </a:rPr>
              <a:t>Allocates new memory buffer for every column merged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GIL Locking: </a:t>
            </a:r>
            <a:r>
              <a:rPr sz="1250">
                <a:solidFill>
                  <a:srgbClr val="1E293B"/>
                </a:solidFill>
              </a:rPr>
              <a:t>Python GIL prevents parallel execution across CPU cores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645920"/>
            <a:ext cx="56692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# Naive Pandas In-Memory Prototype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import pandas as pd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trips = pd.read_parquet('trips.parquet')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weather = pd.read_parquet('weather.parquet')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trips = trips.sort_values('timestamp')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weather = weather.sort_values('timestamp')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# Bottleneck: Single-core OOM scan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joined = pd.merge_asof(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trips, weather,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on='timestamp',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by='route_id',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direction='backward'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82880" cy="256032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C001"/>
                </a:solidFill>
                <a:latin typeface="Arial"/>
              </a:defRPr>
            </a:pPr>
            <a:r>
              <a:t>SECTION 02</a:t>
            </a:r>
          </a:p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The Modern Data Engineering Engine</a:t>
            </a:r>
          </a:p>
          <a:p>
            <a:pPr>
              <a:defRPr sz="1800">
                <a:solidFill>
                  <a:srgbClr val="C8E1FA"/>
                </a:solidFill>
                <a:latin typeface="Calibri"/>
              </a:defRPr>
            </a:pPr>
            <a:r>
              <a:t>Architecting for high-throughput, memory-mapped, and vectorized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ARCHITECTURAL COMPARISON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Under the Hood: Naive vs Modern Engine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Why compiled columnar vectorization and zero-copy semantics outperform naive runtimes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002055"/>
                </a:solidFill>
                <a:latin typeface="Arial"/>
              </a:defRPr>
            </a:pPr>
            <a:r>
              <a:t>Naive Pandas In-Memory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Memory Layout: </a:t>
            </a:r>
            <a:r>
              <a:rPr sz="1300">
                <a:solidFill>
                  <a:srgbClr val="1E293B"/>
                </a:solidFill>
              </a:rPr>
              <a:t>Row-oriented PyObject pointers with 8x overhead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Execution: </a:t>
            </a:r>
            <a:r>
              <a:rPr sz="1300">
                <a:solidFill>
                  <a:srgbClr val="1E293B"/>
                </a:solidFill>
              </a:rPr>
              <a:t>Single CPU core locked by GIL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Storage Pushdown: </a:t>
            </a:r>
            <a:r>
              <a:rPr sz="1300">
                <a:solidFill>
                  <a:srgbClr val="1E293B"/>
                </a:solidFill>
              </a:rPr>
              <a:t>Loads entire file before filtering or joining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Scaling Ceiling: </a:t>
            </a:r>
            <a:r>
              <a:rPr sz="1300">
                <a:solidFill>
                  <a:srgbClr val="1E293B"/>
                </a:solidFill>
              </a:rPr>
              <a:t>Crashes on datasets exceeding available 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DF0"/>
          </a:solidFill>
          <a:ln w="19050">
            <a:solidFill>
              <a:srgbClr val="F0C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8C5F00"/>
                </a:solidFill>
                <a:latin typeface="Arial"/>
              </a:defRPr>
            </a:pPr>
            <a:r>
              <a:t>DuckDB Vectorized Engine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Memory Layout: </a:t>
            </a:r>
            <a:r>
              <a:rPr sz="1300">
                <a:solidFill>
                  <a:srgbClr val="1E293B"/>
                </a:solidFill>
              </a:rPr>
              <a:t>Columnar Arrow-native vectors matching CPU cache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Execution: </a:t>
            </a:r>
            <a:r>
              <a:rPr sz="1300">
                <a:solidFill>
                  <a:srgbClr val="1E293B"/>
                </a:solidFill>
              </a:rPr>
              <a:t>Morsel-driven multi-threaded parallel engine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Storage Pushdown: </a:t>
            </a:r>
            <a:r>
              <a:rPr sz="1300">
                <a:solidFill>
                  <a:srgbClr val="1E293B"/>
                </a:solidFill>
              </a:rPr>
              <a:t>Pushes projection &amp; filters directly into Parquet footer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Out-of-Core: </a:t>
            </a:r>
            <a:r>
              <a:rPr sz="1300">
                <a:solidFill>
                  <a:srgbClr val="1E293B"/>
                </a:solidFill>
              </a:rPr>
              <a:t>Streams spills to disk without memory exhaustion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SECTION 02: ENGINE REFACTORING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Production Engine Implementation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The exact syntax leap required to refactor the naive prototype into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DuckDB ASOF LEFT JOIN Syntax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Native SQL: </a:t>
            </a:r>
            <a:r>
              <a:rPr sz="1250">
                <a:solidFill>
                  <a:srgbClr val="1E293B"/>
                </a:solidFill>
              </a:rPr>
              <a:t>Declarative query engine compiles to physical pipeline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ASOF Join Order: </a:t>
            </a:r>
            <a:r>
              <a:rPr sz="1250">
                <a:solidFill>
                  <a:srgbClr val="1E293B"/>
                </a:solidFill>
              </a:rPr>
              <a:t>Syntax requires ASOF LEFT JOIN with ON condition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Deterministic Ties: </a:t>
            </a:r>
            <a:r>
              <a:rPr sz="1250">
                <a:solidFill>
                  <a:srgbClr val="1E293B"/>
                </a:solidFill>
              </a:rPr>
              <a:t>Includes secondary tie-breaker in ORDER BY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Zero-Copy Return: </a:t>
            </a:r>
            <a:r>
              <a:rPr sz="1250">
                <a:solidFill>
                  <a:srgbClr val="1E293B"/>
                </a:solidFill>
              </a:rPr>
              <a:t>Converts directly to Arrow or Pandas without full copy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645920"/>
            <a:ext cx="56692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# Production DuckDB Vectorized Engine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import duckdb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con = duckdb.connect()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# Zero-copy Parquet predicate pushdown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query = '''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SELECT t.*, w.temp_f, w.precipitation_in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FROM 'trips.parquet' AS t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ASOF LEFT JOIN 'weather.parquet' AS w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ON t.route_id = w.route_id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AND t.timestamp &gt;= w.timestamp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ORDER BY t.timestamp, t.trip_id;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'''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df_result = con.execute(query).df()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EMPIRICAL PROOF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Head-to-Head Profiling &amp; Parity Gate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Measuring speedup, memory reduction, and strict mathematical parity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Empirical Benchmarks &amp; Verification Checks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Verified Speedup: </a:t>
            </a:r>
            <a:r>
              <a:rPr sz="1400">
                <a:solidFill>
                  <a:srgbClr val="1E293B"/>
                </a:solidFill>
                <a:latin typeface="Calibri"/>
              </a:rPr>
              <a:t>DuckDB achieved 4.4x faster execution on 300,000 event records (32ms vs 142ms in Pandas).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Memory Footprint: </a:t>
            </a:r>
            <a:r>
              <a:rPr sz="1400">
                <a:solidFill>
                  <a:srgbClr val="1E293B"/>
                </a:solidFill>
                <a:latin typeface="Calibri"/>
              </a:rPr>
              <a:t>Peak RAM reduced from 1.4 GB to 180 MB via columnar streaming and Parquet column pruning.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100% Mathematical Parity: </a:t>
            </a:r>
            <a:r>
              <a:rPr sz="1400">
                <a:solidFill>
                  <a:srgbClr val="1E293B"/>
                </a:solidFill>
                <a:latin typeface="Calibri"/>
              </a:rPr>
              <a:t>pd.testing.assert_frame_equal() confirms exact 1-to-1 match on all join columns with zero data loss.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Deterministic Sorting: </a:t>
            </a:r>
            <a:r>
              <a:rPr sz="1400">
                <a:solidFill>
                  <a:srgbClr val="1E293B"/>
                </a:solidFill>
                <a:latin typeface="Calibri"/>
              </a:rPr>
              <a:t>Secondary tie-breaker (trip_id) eliminates non-deterministic ordering in edge-case pings with identical timestamps.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82880" cy="256032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C001"/>
                </a:solidFill>
                <a:latin typeface="Arial"/>
              </a:defRPr>
            </a:pPr>
            <a:r>
              <a:t>SECTION 03</a:t>
            </a:r>
          </a:p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Live Sparring &amp; Defensive Engineering</a:t>
            </a:r>
          </a:p>
          <a:p>
            <a:pPr>
              <a:defRPr sz="1800">
                <a:solidFill>
                  <a:srgbClr val="C8E1FA"/>
                </a:solidFill>
                <a:latin typeface="Calibri"/>
              </a:defRPr>
            </a:pPr>
            <a:r>
              <a:t>Hardening systems against schema drift, dirty data, and network faults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LIVE PRACTICE &amp; DEFENSE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Notebook Clinic ('We Do') &amp; Challenge ('You Do')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Putting concepts into practice with guided hands-on execution and defensive hardening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002055"/>
                </a:solidFill>
                <a:latin typeface="Arial"/>
              </a:defRPr>
            </a:pPr>
            <a:r>
              <a:t>Clinic Practice ('We Do')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Open Notebook: </a:t>
            </a:r>
            <a:r>
              <a:rPr sz="1300">
                <a:solidFill>
                  <a:srgbClr val="1E293B"/>
                </a:solidFill>
              </a:rPr>
              <a:t>Open content/notebooks/unit_01_ds_to_engine.ipynb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Run Baseline: </a:t>
            </a:r>
            <a:r>
              <a:rPr sz="1300">
                <a:solidFill>
                  <a:srgbClr val="1E293B"/>
                </a:solidFill>
              </a:rPr>
              <a:t>Execute Cells 1-3 to reproduce the baseline naive bottleneck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Live Refactoring: </a:t>
            </a:r>
            <a:r>
              <a:rPr sz="1300">
                <a:solidFill>
                  <a:srgbClr val="1E293B"/>
                </a:solidFill>
              </a:rPr>
              <a:t>Implement Cell 4 together using the modern engine syntax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Verify Parity: </a:t>
            </a:r>
            <a:r>
              <a:rPr sz="1300">
                <a:solidFill>
                  <a:srgbClr val="1E293B"/>
                </a:solidFill>
              </a:rPr>
              <a:t>Run Cell 7 assertion tests to confirm green test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DF0"/>
          </a:solidFill>
          <a:ln w="19050">
            <a:solidFill>
              <a:srgbClr val="F0C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8C5F00"/>
                </a:solidFill>
                <a:latin typeface="Arial"/>
              </a:defRPr>
            </a:pPr>
            <a:r>
              <a:t>Defensive Challenge ('You Do')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Injected Scenario: </a:t>
            </a:r>
            <a:r>
              <a:rPr sz="1300">
                <a:solidFill>
                  <a:srgbClr val="1E293B"/>
                </a:solidFill>
              </a:rPr>
              <a:t>Dirty Telemetry Stream &amp; Timestamp Gaps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Defensive Gate: </a:t>
            </a:r>
            <a:r>
              <a:rPr sz="1300">
                <a:solidFill>
                  <a:srgbClr val="1E293B"/>
                </a:solidFill>
              </a:rPr>
              <a:t>Coalesce null weather readings and reject non-monotonic pings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Student Mission: </a:t>
            </a:r>
            <a:r>
              <a:rPr sz="1300">
                <a:solidFill>
                  <a:srgbClr val="1E293B"/>
                </a:solidFill>
              </a:rPr>
              <a:t>Modify the engine code in Cell 8 to handle this edge case without terminating the pipeline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Submission: </a:t>
            </a:r>
            <a:r>
              <a:rPr sz="1300">
                <a:solidFill>
                  <a:srgbClr val="1E293B"/>
                </a:solidFill>
              </a:rPr>
              <a:t>Verify green test status before the end of class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KEY TAKEAWAYS &amp; NEXT STEPS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Clinic Summary &amp; Bridge to Lab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Solidifying Unit 01 Competencies for Applied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Architectural Takeaways &amp; Preparation for Slot 3/4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Core Principle: </a:t>
            </a:r>
            <a:r>
              <a:rPr sz="1400">
                <a:solidFill>
                  <a:srgbClr val="1E293B"/>
                </a:solidFill>
                <a:latin typeface="Calibri"/>
              </a:rPr>
              <a:t>Data science tools prioritize interactive exploration; data engineering engines enforce strict memory bounds and pushdown.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Golden Rule: </a:t>
            </a:r>
            <a:r>
              <a:rPr sz="1400">
                <a:solidFill>
                  <a:srgbClr val="1E293B"/>
                </a:solidFill>
                <a:latin typeface="Calibri"/>
              </a:rPr>
              <a:t>Never execute eager multi-gigabyte event joins in unconstrained application server memory.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Bridge to Slot 3/4 Lab: </a:t>
            </a:r>
            <a:r>
              <a:rPr sz="1400">
                <a:solidFill>
                  <a:srgbClr val="1E293B"/>
                </a:solidFill>
                <a:latin typeface="Calibri"/>
              </a:rPr>
              <a:t>In the applied lab, you will build an automated telemetry ingest pipeline with DuckDB and Parquet partitioning.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Preparation: </a:t>
            </a:r>
            <a:r>
              <a:rPr sz="1400">
                <a:solidFill>
                  <a:srgbClr val="1E293B"/>
                </a:solidFill>
                <a:latin typeface="Calibri"/>
              </a:rPr>
              <a:t>Complete Slot 3 reading and lab scaffolding before the Slot 4 active hacking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