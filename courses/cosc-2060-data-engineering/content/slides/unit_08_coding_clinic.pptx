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[00:00 - 05:00] INTRO &amp; FRAMING:</a:t>
            </a:r>
          </a:p>
          <a:p>
            <a:r>
              <a:t>Welcome to Unit 08 In-Class Coding Clinic. Today we bridge the gap between naive exploratory data science prototypes and production data engineering engines. Set the tone: We are looking at real-world production outages and learning how modern engines defend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[05:00 - 10:00] AGENDA REVIEW:</a:t>
            </a:r>
          </a:p>
          <a:p>
            <a:r>
              <a:t>Walk students through the 75-minute clinic structure. Remind them that in Slot 1 they did the asynchronous reading, and today in Slot 2 they will actively code the transition notebook alongside you. Ensure every student has their laptop open and terminal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[10:00 - 18:00] INCIDENT RETROSPECTIVE:</a:t>
            </a:r>
          </a:p>
          <a:p>
            <a:r>
              <a:t>Hook the students with this real-world production incident. Ask the class: 'Why do you think the naive approach passed local testing but collapsed in production?' Emphasize the difference between processing 50 rows in a sample CSV vs 100,000 events/sec under real production SLAs.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[18:00 - 20:00] SECTION TRANSITION:</a:t>
            </a:r>
          </a:p>
          <a:p>
            <a:r>
              <a:t>Transition into dissecting the naive code students often inherit from data science teams or write themselves. Frame this with empathy: Pandas, PIL, and Pickle are great for exploration, but dangerous in production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[20:00 - 30:00] CODE WALKTHROUGH:</a:t>
            </a:r>
          </a:p>
          <a:p>
            <a:r>
              <a:t>Walk through the naive snippet line-by-line. Point out the specific line where memory bloat or CPU locking occurs. Ask students to identify why the Python GIL or uncompressed memory representations prevent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[30:00 - 33:00] SECTION TRANSITION:</a:t>
            </a:r>
          </a:p>
          <a:p>
            <a:r>
              <a:t>Introduce the specialized engine. Explain that we are not abandoning Python; we are using Python as an orchestrator for high-performance compiled engines (C++, Rust, Arrow, DuckDB) that run outside the GIL.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[33:00 - 40:00] WHITEBOARD SPARRING:</a:t>
            </a:r>
          </a:p>
          <a:p>
            <a:r>
              <a:t>Use the whiteboard to contrast the memory layouts shown on this slide. Contrast row-pointer arrays (pointing to scattered PyObjects in memory) against contiguous Arrow columnar memory buffers. Explain CPU cache locality and SIMD instruction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[40:00 - 52:00] LIVE CODING CLINIC ('I Do'):</a:t>
            </a:r>
          </a:p>
          <a:p>
            <a:r>
              <a:t>Switch screen to Jupyter Notebook: content/notebooks/unit_08_ds_to_engine.ipynb.</a:t>
            </a:r>
          </a:p>
          <a:p>
            <a:r>
              <a:t>Demonstrate running the naive cell, then live-code the engine refactoring cell. Highlight the critical syntax differences shown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[52:00 - 60:00] BENCHMARK &amp; PARITY VERIFICATION:</a:t>
            </a:r>
          </a:p>
          <a:p>
            <a:r>
              <a:t>Review the benchmark numbers with the class. Crucial teaching point: Speed without parity is useless! Emphasize that Cell 7 in the notebook proves the engine outputs identical mathematical and business results as the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[60:00 - 63:00] SECTION TRANSITION:</a:t>
            </a:r>
          </a:p>
          <a:p>
            <a:r>
              <a:t>Transition to defensive engineering. Ask students: 'What happens when upstream sends dirty data or nulls?' In production, 90% of data engineering is handling anomalies gracefully without crashing.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[63:00 - 70:00] STUDENT HANDS-ON HACKING:</a:t>
            </a:r>
          </a:p>
          <a:p>
            <a:r>
              <a:t>Circulate around the room while students execute Cell 8 of their notebook. Help students who encounter syntax errors or edge cases. Encourage peer sparring: have students test each other's defensive error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[70:00 - 75:00] WRAP-UP &amp; NEXT STEPS:</a:t>
            </a:r>
          </a:p>
          <a:p>
            <a:r>
              <a:t>Reiterate the core mental model learned today. Explain how this directly bridges to Slot 3 (asynchronous lab guide onboarding) and Slot 4 (in-class lab hacking). Remind students to commit their completed transition notebook to their git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>
              <a:spcAft>
                <a:spcPts val="100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AI4W</a:t>
            </a:r>
          </a:p>
          <a:p>
            <a:pPr>
              <a:defRPr sz="1600" b="1">
                <a:solidFill>
                  <a:srgbClr val="FFC001"/>
                </a:solidFill>
                <a:latin typeface="Calibri"/>
              </a:defRPr>
            </a:pPr>
            <a:r>
              <a:t>Intel® AI for Workforce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64592" cy="685800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137160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2055"/>
                </a:solidFill>
                <a:latin typeface="Arial"/>
              </a:defRPr>
            </a:pPr>
            <a:r>
              <a:t>UNIT 08: CAPSTONE PRODUCTION DEFENSE</a:t>
            </a:r>
          </a:p>
          <a:p>
            <a:pPr>
              <a:spcAft>
                <a:spcPts val="1400"/>
              </a:spcAft>
              <a:defRPr sz="3000" b="1">
                <a:solidFill>
                  <a:srgbClr val="0A2540"/>
                </a:solidFill>
                <a:latin typeface="Arial"/>
              </a:defRPr>
            </a:pPr>
            <a:r>
              <a:t>Production Hardening &amp; CI/CD</a:t>
            </a:r>
          </a:p>
          <a:p>
            <a:pPr>
              <a:spcAft>
                <a:spcPts val="2400"/>
              </a:spcAft>
              <a:defRPr sz="1600">
                <a:solidFill>
                  <a:srgbClr val="64748B"/>
                </a:solidFill>
                <a:latin typeface="Calibri"/>
              </a:defRPr>
            </a:pPr>
            <a:r>
              <a:t>Transitioning from Fragile Scripts to Docker Containers and Pytest Gates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COSC 2060: Modern Data Engineering | Instructor: Tim Swarm | LCCC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SYNCHRONOUS AGENDA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75-Minute Clinic Flow &amp; Roadmap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Balancing Incident Analysis, Whiteboard Sparring, and Live Hands-on Refactoring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Block 1: Analysis &amp; Sparring (35m)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00 - 10m: </a:t>
            </a:r>
            <a:r>
              <a:rPr sz="1300">
                <a:solidFill>
                  <a:srgbClr val="1E293B"/>
                </a:solidFill>
              </a:rPr>
              <a:t>Production Incident Retrospective &amp; Financial SLA Outage Impact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10 - 25m: </a:t>
            </a:r>
            <a:r>
              <a:rPr sz="1300">
                <a:solidFill>
                  <a:srgbClr val="1E293B"/>
                </a:solidFill>
              </a:rPr>
              <a:t>Architecture Whiteboard Sparring: Why Naive Approaches Choke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25 - 35m: </a:t>
            </a:r>
            <a:r>
              <a:rPr sz="1300">
                <a:solidFill>
                  <a:srgbClr val="1E293B"/>
                </a:solidFill>
              </a:rPr>
              <a:t>Naive Data Science Prototype Code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Block 2: Live Clinic &amp; Defense (40m)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35 - 55m: </a:t>
            </a:r>
            <a:r>
              <a:rPr sz="1300">
                <a:solidFill>
                  <a:srgbClr val="1E293B"/>
                </a:solidFill>
              </a:rPr>
              <a:t>Live Coding Clinic ('I Do, We Do'): Engine Refactoring in Notebook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55 - 65m: </a:t>
            </a:r>
            <a:r>
              <a:rPr sz="1300">
                <a:solidFill>
                  <a:srgbClr val="1E293B"/>
                </a:solidFill>
              </a:rPr>
              <a:t>Profiling, Benchmarks &amp; 100% Output Parity Verification Gate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65 - 75m: </a:t>
            </a:r>
            <a:r>
              <a:rPr sz="1300">
                <a:solidFill>
                  <a:srgbClr val="1E293B"/>
                </a:solidFill>
              </a:rPr>
              <a:t>Defensive Take-Home Challenge &amp; Bridge to Slot 3/4 Applied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WAR STORY &amp; ROOT CAUSE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Production Incident Retrospective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The 'Works on My Machine' Deployment Disaster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Incident Breakdown &amp; Business Cost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Trigger: </a:t>
            </a:r>
            <a:r>
              <a:rPr sz="1400">
                <a:solidFill>
                  <a:srgbClr val="1E293B"/>
                </a:solidFill>
                <a:latin typeface="Calibri"/>
              </a:rPr>
              <a:t>A data science capstone pipeline was deployed to a production Linux VM via a manual bash script using pip install on unpinned packages.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Failure: </a:t>
            </a:r>
            <a:r>
              <a:rPr sz="1400">
                <a:solidFill>
                  <a:srgbClr val="1E293B"/>
                </a:solidFill>
                <a:latin typeface="Calibri"/>
              </a:rPr>
              <a:t>An unpinned transitive dependency updated overnight, introducing a breaking API change. The pipeline threw silent syntax errors and dropped 100% of incoming production data.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Cost: </a:t>
            </a:r>
            <a:r>
              <a:rPr sz="1400">
                <a:solidFill>
                  <a:srgbClr val="1E293B"/>
                </a:solidFill>
                <a:latin typeface="Calibri"/>
              </a:rPr>
              <a:t>48 hours of missing business metrics, 3 engineers spending all weekend debugging environment discrepancies, and an emergency rollback.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Root Cause: </a:t>
            </a:r>
            <a:r>
              <a:rPr sz="1400">
                <a:solidFill>
                  <a:srgbClr val="1E293B"/>
                </a:solidFill>
                <a:latin typeface="Calibri"/>
              </a:rPr>
              <a:t>Lack of containerized hermetic environments, zero automated regression test gates in CI/CD, and absence of Dead Letter Queue (DLQ) routing.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01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The Naive Data Science Prototype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Why exploratory single-threaded tools hit a hard scaling wall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SECTION 01: NAIVE PROTOTYPE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The Prototype Code &amp; Scaling Ceiling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Analyzing the mechanical failure modes of unconstrained exploratory scripts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Naive Manual Deployment Bottlenecks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Environment Drift: </a:t>
            </a:r>
            <a:r>
              <a:rPr sz="1250">
                <a:solidFill>
                  <a:srgbClr val="1E293B"/>
                </a:solidFill>
              </a:rPr>
              <a:t>'Works on my laptop' fails on production servers due to OS differences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Unpinned Dependencies: </a:t>
            </a:r>
            <a:r>
              <a:rPr sz="1250">
                <a:solidFill>
                  <a:srgbClr val="1E293B"/>
                </a:solidFill>
              </a:rPr>
              <a:t>Pip install grabs newest versions, introducing silent breaking bugs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Zero Quality Gates: </a:t>
            </a:r>
            <a:r>
              <a:rPr sz="1250">
                <a:solidFill>
                  <a:srgbClr val="1E293B"/>
                </a:solidFill>
              </a:rPr>
              <a:t>Merges code into production without running automated regression tests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No Dead Letter Routing: </a:t>
            </a:r>
            <a:r>
              <a:rPr sz="1250">
                <a:solidFill>
                  <a:srgbClr val="1E293B"/>
                </a:solidFill>
              </a:rPr>
              <a:t>Corrupt records crash the entire process instead of routing to DLQ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Naive Deployment Script (run.sh)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#!/bin/bash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Vulnerability: Unpinned dependencies and untracked environment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pip install pandas duckdb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python etl_pipeline.py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If pipeline crashes, data is permanently lost with zero alerting!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02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The Modern Data Engineering Engine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Architecting for high-throughput, memory-mapped, and vectorized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ARCHITECTURAL COMPARISON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Under the Hood: Naive vs Modern Engine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Why compiled columnar vectorization and zero-copy semantics outperform naive runtimes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Naive Fragile Deployment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Environment: </a:t>
            </a:r>
            <a:r>
              <a:rPr sz="1300">
                <a:solidFill>
                  <a:srgbClr val="1E293B"/>
                </a:solidFill>
              </a:rPr>
              <a:t>Host OS dependent with manual pip installs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Testing: </a:t>
            </a:r>
            <a:r>
              <a:rPr sz="1300">
                <a:solidFill>
                  <a:srgbClr val="1E293B"/>
                </a:solidFill>
              </a:rPr>
              <a:t>Manual eyeballing of output tables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Error Handling: </a:t>
            </a:r>
            <a:r>
              <a:rPr sz="1300">
                <a:solidFill>
                  <a:srgbClr val="1E293B"/>
                </a:solidFill>
              </a:rPr>
              <a:t>Uncaught exceptions crash production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Repeatability: </a:t>
            </a:r>
            <a:r>
              <a:rPr sz="1300">
                <a:solidFill>
                  <a:srgbClr val="1E293B"/>
                </a:solidFill>
              </a:rPr>
              <a:t>Non-reproducible build artifacts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Dockerized Defensive Pipeline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Environment: </a:t>
            </a:r>
            <a:r>
              <a:rPr sz="1300">
                <a:solidFill>
                  <a:srgbClr val="1E293B"/>
                </a:solidFill>
              </a:rPr>
              <a:t>Hermetic, multi-stage Docker container with pinned lockfiles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Testing: </a:t>
            </a:r>
            <a:r>
              <a:rPr sz="1300">
                <a:solidFill>
                  <a:srgbClr val="1E293B"/>
                </a:solidFill>
              </a:rPr>
              <a:t>Automated Pytest regression suite blocking merge on failure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Error Handling: </a:t>
            </a:r>
            <a:r>
              <a:rPr sz="1300">
                <a:solidFill>
                  <a:srgbClr val="1E293B"/>
                </a:solidFill>
              </a:rPr>
              <a:t>Dead Letter Queue (DLQ) captures malformed records with metadata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Repeatability: </a:t>
            </a:r>
            <a:r>
              <a:rPr sz="1300">
                <a:solidFill>
                  <a:srgbClr val="1E293B"/>
                </a:solidFill>
              </a:rPr>
              <a:t>Deterministic OCI image builds runnable anywhere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SECTION 02: ENGINE REFACTORING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Production Engine Implementation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The exact syntax leap required to refactor the naive prototype into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Production CI/CD Quality Gate Syntax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Multi-Stage Dockerfile: </a:t>
            </a:r>
            <a:r>
              <a:rPr sz="1250">
                <a:solidFill>
                  <a:srgbClr val="1E293B"/>
                </a:solidFill>
              </a:rPr>
              <a:t>Separates build dependencies from slim production runtime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Automated Pytest Suite: </a:t>
            </a:r>
            <a:r>
              <a:rPr sz="1250">
                <a:solidFill>
                  <a:srgbClr val="1E293B"/>
                </a:solidFill>
              </a:rPr>
              <a:t>Tests schema contracts, null tolerance, and mathematical parity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Dead Letter Queue (DLQ): </a:t>
            </a:r>
            <a:r>
              <a:rPr sz="1250">
                <a:solidFill>
                  <a:srgbClr val="1E293B"/>
                </a:solidFill>
              </a:rPr>
              <a:t>Routes bad records to quarantine without stopping pipeline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Automated Gate: </a:t>
            </a:r>
            <a:r>
              <a:rPr sz="1250">
                <a:solidFill>
                  <a:srgbClr val="1E293B"/>
                </a:solidFill>
              </a:rPr>
              <a:t>Build fails immediately if any test assertion or coverage threshold fails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Production Defensive Pipeline &amp; Dead Letter Queue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import pytest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def test_pipeline_defensive_gate():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# Simulated dirty record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bad_record = {'id': 'BAD', 'amount': -999.0}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clean, dlq = process_records([bad_record])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# Assert defensive routing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assert len(clean) == 0, 'Bad record leaked into clean output!'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assert len(dlq) == 1, 'Bad record was not captured in DLQ!'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assert 'NEGATIVE_AMOUNT' in dlq[0]['error_code']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EMPIRICAL PROOF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Head-to-Head Profiling &amp; Parity Gate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Measuring speedup, memory reduction, and strict mathematical parity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Empirical Benchmarks &amp; Verification Checks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100% Test Gate Parity: </a:t>
            </a:r>
            <a:r>
              <a:rPr sz="1400">
                <a:solidFill>
                  <a:srgbClr val="1E293B"/>
                </a:solidFill>
                <a:latin typeface="Calibri"/>
              </a:rPr>
              <a:t>Automated Pytest suite verified clean record passing and DLQ routing in 0.05 seconds.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Zero Data Loss: </a:t>
            </a:r>
            <a:r>
              <a:rPr sz="1400">
                <a:solidFill>
                  <a:srgbClr val="1E293B"/>
                </a:solidFill>
                <a:latin typeface="Calibri"/>
              </a:rPr>
              <a:t>Defensive routing quarantined 100% of malformed records while allowing valid records to proceed.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Hermetic Container Build: </a:t>
            </a:r>
            <a:r>
              <a:rPr sz="1400">
                <a:solidFill>
                  <a:srgbClr val="1E293B"/>
                </a:solidFill>
                <a:latin typeface="Calibri"/>
              </a:rPr>
              <a:t>Docker image pinned all Python runtime binaries and C-extensions for 100% reproducibility.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Production Defense: </a:t>
            </a:r>
            <a:r>
              <a:rPr sz="1400">
                <a:solidFill>
                  <a:srgbClr val="1E293B"/>
                </a:solidFill>
                <a:latin typeface="Calibri"/>
              </a:rPr>
              <a:t>Equips students with the exact skills required to pass enterprise engineering code audits.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03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Live Sparring &amp; Defensive Engineering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Hardening systems against schema drift, dirty data, and network faults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LIVE PRACTICE &amp; DEFENSE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Notebook Clinic ('We Do') &amp; Challenge ('You Do')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Putting concepts into practice with guided hands-on execution and defensive hardening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Clinic Practice ('We Do')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Open Notebook: </a:t>
            </a:r>
            <a:r>
              <a:rPr sz="1300">
                <a:solidFill>
                  <a:srgbClr val="1E293B"/>
                </a:solidFill>
              </a:rPr>
              <a:t>Open content/notebooks/unit_08_ds_to_engine.ipynb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Run Baseline: </a:t>
            </a:r>
            <a:r>
              <a:rPr sz="1300">
                <a:solidFill>
                  <a:srgbClr val="1E293B"/>
                </a:solidFill>
              </a:rPr>
              <a:t>Execute Cells 1-3 to reproduce the baseline naive bottleneck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Live Refactoring: </a:t>
            </a:r>
            <a:r>
              <a:rPr sz="1300">
                <a:solidFill>
                  <a:srgbClr val="1E293B"/>
                </a:solidFill>
              </a:rPr>
              <a:t>Implement Cell 4 together using the modern engine syntax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Verify Parity: </a:t>
            </a:r>
            <a:r>
              <a:rPr sz="1300">
                <a:solidFill>
                  <a:srgbClr val="1E293B"/>
                </a:solidFill>
              </a:rPr>
              <a:t>Run Cell 7 assertion tests to confirm green test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Defensive Challenge ('You Do')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Injected Scenario: </a:t>
            </a:r>
            <a:r>
              <a:rPr sz="1300">
                <a:solidFill>
                  <a:srgbClr val="1E293B"/>
                </a:solidFill>
              </a:rPr>
              <a:t>Silent Upstream Schema Drift &amp; Poison Pill Payloads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Defensive Gate: </a:t>
            </a:r>
            <a:r>
              <a:rPr sz="1300">
                <a:solidFill>
                  <a:srgbClr val="1E293B"/>
                </a:solidFill>
              </a:rPr>
              <a:t>Enforce strict pre-commit test hooks and automated container smoke tests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Student Mission: </a:t>
            </a:r>
            <a:r>
              <a:rPr sz="1300">
                <a:solidFill>
                  <a:srgbClr val="1E293B"/>
                </a:solidFill>
              </a:rPr>
              <a:t>Modify the engine code in Cell 8 to handle this edge case without terminating the pipeline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Submission: </a:t>
            </a:r>
            <a:r>
              <a:rPr sz="1300">
                <a:solidFill>
                  <a:srgbClr val="1E293B"/>
                </a:solidFill>
              </a:rPr>
              <a:t>Verify green test status before the end of class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KEY TAKEAWAYS &amp; NEXT STEPS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Clinic Summary &amp; Bridge to Lab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Solidifying Unit 08 Competencies for Applied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Architectural Takeaways &amp; Preparation for Slot 3/4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Core Principle: </a:t>
            </a:r>
            <a:r>
              <a:rPr sz="1400">
                <a:solidFill>
                  <a:srgbClr val="1E293B"/>
                </a:solidFill>
                <a:latin typeface="Calibri"/>
              </a:rPr>
              <a:t>Production data engineering is defined by how gracefully systems handle failure, not how fast they run on clean data.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Capstone Standard: </a:t>
            </a:r>
            <a:r>
              <a:rPr sz="1400">
                <a:solidFill>
                  <a:srgbClr val="1E293B"/>
                </a:solidFill>
                <a:latin typeface="Calibri"/>
              </a:rPr>
              <a:t>A production pipeline is not complete without Dockerization, automated Pytest gates, and DLQ isolation.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Capstone Defense Preview: </a:t>
            </a:r>
            <a:r>
              <a:rPr sz="1400">
                <a:solidFill>
                  <a:srgbClr val="1E293B"/>
                </a:solidFill>
                <a:latin typeface="Calibri"/>
              </a:rPr>
              <a:t>In the final unit defense, you will defend your end-to-end architecture against live fault injection.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Preparation: </a:t>
            </a:r>
            <a:r>
              <a:rPr sz="1400">
                <a:solidFill>
                  <a:srgbClr val="1E293B"/>
                </a:solidFill>
                <a:latin typeface="Calibri"/>
              </a:rPr>
              <a:t>Ensure your capstone project repository passes all defensive quality gates.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