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[00:00 - 05:00] INTRO &amp; FRAMING:</a:t>
            </a:r>
          </a:p>
          <a:p>
            <a:r>
              <a:t>Welcome to Unit 03 In-Class Coding Clinic. Today we bridge the gap between naive exploratory data science prototypes and production data engineering engines. Set the tone: We are looking at real-world production outages and learning how modern engines defend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[05:00 - 10:00] AGENDA REVIEW:</a:t>
            </a:r>
          </a:p>
          <a:p>
            <a:r>
              <a:t>Walk students through the 75-minute clinic structure. Remind them that in Slot 1 they did the asynchronous reading, and today in Slot 2 they will actively code the transition notebook alongside you. Ensure every student has their laptop open and terminal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[10:00 - 18:00] INCIDENT RETROSPECTIVE:</a:t>
            </a:r>
          </a:p>
          <a:p>
            <a:r>
              <a:t>Hook the students with this real-world production incident. Ask the class: 'Why do you think the naive approach passed local testing but collapsed in production?' Emphasize the difference between processing 50 rows in a sample CSV vs 100,000 events/sec under real production SLAs.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[18:00 - 20:00] SECTION TRANSITION:</a:t>
            </a:r>
          </a:p>
          <a:p>
            <a:r>
              <a:t>Transition into dissecting the naive code students often inherit from data science teams or write themselves. Frame this with empathy: Pandas, PIL, and Pickle are great for exploration, but dangerous in production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[20:00 - 30:00] CODE WALKTHROUGH:</a:t>
            </a:r>
          </a:p>
          <a:p>
            <a:r>
              <a:t>Walk through the naive snippet line-by-line. Point out the specific line where memory bloat or CPU locking occurs. Ask students to identify why the Python GIL or uncompressed memory representations prevent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[30:00 - 33:00] SECTION TRANSITION:</a:t>
            </a:r>
          </a:p>
          <a:p>
            <a:r>
              <a:t>Introduce the specialized engine. Explain that we are not abandoning Python; we are using Python as an orchestrator for high-performance compiled engines (C++, Rust, Arrow, DuckDB) that run outside the 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[33:00 - 40:00] WHITEBOARD SPARRING:</a:t>
            </a:r>
          </a:p>
          <a:p>
            <a:r>
              <a:t>Use the whiteboard to contrast the memory layouts shown on this slide. Contrast row-pointer arrays (pointing to scattered PyObjects in memory) against contiguous Arrow columnar memory buffers. Explain CPU cache locality and SIMD instruction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[40:00 - 52:00] LIVE CODING CLINIC ('I Do'):</a:t>
            </a:r>
          </a:p>
          <a:p>
            <a:r>
              <a:t>Switch screen to Jupyter Notebook: content/notebooks/unit_03_ds_to_engine.ipynb.</a:t>
            </a:r>
          </a:p>
          <a:p>
            <a:r>
              <a:t>Demonstrate running the naive cell, then live-code the engine refactoring cell. Highlight the critical syntax differences shown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[52:00 - 60:00] BENCHMARK &amp; PARITY VERIFICATION:</a:t>
            </a:r>
          </a:p>
          <a:p>
            <a:r>
              <a:t>Review the benchmark numbers with the class. Crucial teaching point: Speed without parity is useless! Emphasize that Cell 7 in the notebook proves the engine outputs identical mathematical and business results as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[60:00 - 63:00] SECTION TRANSITION:</a:t>
            </a:r>
          </a:p>
          <a:p>
            <a:r>
              <a:t>Transition to defensive engineering. Ask students: 'What happens when upstream sends dirty data or nulls?' In production, 90% of data engineering is handling anomalies gracefully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[63:00 - 70:00] STUDENT HANDS-ON HACKING:</a:t>
            </a:r>
          </a:p>
          <a:p>
            <a:r>
              <a:t>Circulate around the room while students execute Cell 8 of their notebook. Help students who encounter syntax errors or edge cases. Encourage peer sparring: have students test each other's defensive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[70:00 - 75:00] WRAP-UP &amp; NEXT STEPS:</a:t>
            </a:r>
          </a:p>
          <a:p>
            <a:r>
              <a:t>Reiterate the core mental model learned today. Explain how this directly bridges to Slot 3 (asynchronous lab guide onboarding) and Slot 4 (in-class lab hacking). Remind students to commit their completed transition notebook to their git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AI4W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Intel® AI for Workforce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UNIT 03: MULTIMODAL VISION LAYER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Computer Vision Ingestion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Transitioning from PIL/Matplotlib to OpenCV C-Contiguous Tensors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COSC 2060: Modern Data Engineering | Instructor: Tim Swarm | LCCC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SYNCHRONOUS AGENDA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75-Minute Clinic Flow &amp; Roadmap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Balancing Incident Analysis, Whiteboard Sparring, and Live Hands-on Refactoring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Block 1: Analysis &amp; Sparring (35m)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00 - 10m: </a:t>
            </a:r>
            <a:r>
              <a:rPr sz="1300">
                <a:solidFill>
                  <a:srgbClr val="1E293B"/>
                </a:solidFill>
              </a:rPr>
              <a:t>Production Incident Retrospective &amp; Financial SLA Outage Impact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10 - 25m: </a:t>
            </a:r>
            <a:r>
              <a:rPr sz="1300">
                <a:solidFill>
                  <a:srgbClr val="1E293B"/>
                </a:solidFill>
              </a:rPr>
              <a:t>Architecture Whiteboard Sparring: Why Naive Approaches Choke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25 - 35m: </a:t>
            </a:r>
            <a:r>
              <a:rPr sz="1300">
                <a:solidFill>
                  <a:srgbClr val="1E293B"/>
                </a:solidFill>
              </a:rPr>
              <a:t>Naive Data Science Prototype Code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Block 2: Live Clinic &amp; Defense (40m)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35 - 55m: </a:t>
            </a:r>
            <a:r>
              <a:rPr sz="1300">
                <a:solidFill>
                  <a:srgbClr val="1E293B"/>
                </a:solidFill>
              </a:rPr>
              <a:t>Live Coding Clinic ('I Do, We Do'): Engine Refactoring in Notebook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55 - 65m: </a:t>
            </a:r>
            <a:r>
              <a:rPr sz="1300">
                <a:solidFill>
                  <a:srgbClr val="1E293B"/>
                </a:solidFill>
              </a:rPr>
              <a:t>Profiling, Benchmarks &amp; 100% Output Parity Verification Gate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65 - 75m: </a:t>
            </a:r>
            <a:r>
              <a:rPr sz="1300">
                <a:solidFill>
                  <a:srgbClr val="1E293B"/>
                </a:solidFill>
              </a:rPr>
              <a:t>Defensive Take-Home Challenge &amp; Bridge to Slot 3/4 Applied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WAR STORY &amp; ROOT CAUSE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Incident Retrospective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Drone Streaming Pipeline Buffer Overflow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Incident Breakdown &amp; Business Cost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Trigger: </a:t>
            </a:r>
            <a:r>
              <a:rPr sz="1400">
                <a:solidFill>
                  <a:srgbClr val="1E293B"/>
                </a:solidFill>
                <a:latin typeface="Calibri"/>
              </a:rPr>
              <a:t>A solar farm drone inspection pipeline decoded 4K video feeds and preprocessed frames for a YOLOv8 inference model using Python's Pillow (PIL).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Failure: </a:t>
            </a:r>
            <a:r>
              <a:rPr sz="1400">
                <a:solidFill>
                  <a:srgbClr val="1E293B"/>
                </a:solidFill>
                <a:latin typeface="Calibri"/>
              </a:rPr>
              <a:t>PIL decoded images into Python PIL.Image objects, converted them to NumPy arrays via deep copy, and performed non-contiguous channel transpositions in pure Python.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Cost: </a:t>
            </a:r>
            <a:r>
              <a:rPr sz="1400">
                <a:solidFill>
                  <a:srgbClr val="1E293B"/>
                </a:solidFill>
                <a:latin typeface="Calibri"/>
              </a:rPr>
              <a:t>Frame processing dropped to 12 FPS (below real-time 30 FPS requirement). Buffer queues filled up, forcing memory exhaustion and dropping 60% of critical anomaly frames.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Root Cause: </a:t>
            </a:r>
            <a:r>
              <a:rPr sz="1400">
                <a:solidFill>
                  <a:srgbClr val="1E293B"/>
                </a:solidFill>
                <a:latin typeface="Calibri"/>
              </a:rPr>
              <a:t>Non-C-contiguous memory buffers, repetitive RGB/BGR color channel allocations, and failure to utilize OpenCV's hardware-accelerated SIMD decoding routines.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Naive Data Science Prototype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Why exploratory single-threaded tools hit a hard scaling wall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01: NAIVE PROTOTYPE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The Prototype Code &amp; Scaling Ceiling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Analyzing the mechanical failure modes of unconstrained exploratory 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Naive PIL Preprocessing Pattern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Python Object Boxing: </a:t>
            </a:r>
            <a:r>
              <a:rPr sz="1250">
                <a:solidFill>
                  <a:srgbClr val="1E293B"/>
                </a:solidFill>
              </a:rPr>
              <a:t>Wraps raw byte buffers in high-overhead PIL image wrappers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Unnecessary Copies: </a:t>
            </a:r>
            <a:r>
              <a:rPr sz="1250">
                <a:solidFill>
                  <a:srgbClr val="1E293B"/>
                </a:solidFill>
              </a:rPr>
              <a:t>np.array(image) forces full memory duplication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Non-Contiguous Strides: </a:t>
            </a:r>
            <a:r>
              <a:rPr sz="1250">
                <a:solidFill>
                  <a:srgbClr val="1E293B"/>
                </a:solidFill>
              </a:rPr>
              <a:t>Pure-python transpose creates non-contiguous memory layouts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Sub-Optimal FPS: </a:t>
            </a:r>
            <a:r>
              <a:rPr sz="1250">
                <a:solidFill>
                  <a:srgbClr val="1E293B"/>
                </a:solidFill>
              </a:rPr>
              <a:t>Fails to meet real-time streaming inference thresholds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Naive PIL + Matplotlib Prototype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PIL import Image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numpy as np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def preprocess_frame(image_bytes):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img = Image.open(io.BytesIO(image_bytes))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img = img.resize((640, 640))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arr = np.array(img, dtype=np.float32) / 255.0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# Transpose HWC -&gt; CHW (non-contiguous memory)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tensor = np.transpose(arr, (2, 0, 1))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return np.expand_dims(tensor, axis=0)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02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Modern Data Engineering Engine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Architecting for high-throughput, memory-mapped, and vectorized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ARCHITECTURAL COMPARISON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Under the Hood: Naive vs Modern Engine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compiled columnar vectorization and zero-copy semantics outperform naive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Naive PIL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Decoding: </a:t>
            </a:r>
            <a:r>
              <a:rPr sz="1300">
                <a:solidFill>
                  <a:srgbClr val="1E293B"/>
                </a:solidFill>
              </a:rPr>
              <a:t>Pure Python file-like buffer parsing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Memory: </a:t>
            </a:r>
            <a:r>
              <a:rPr sz="1300">
                <a:solidFill>
                  <a:srgbClr val="1E293B"/>
                </a:solidFill>
              </a:rPr>
              <a:t>Multiple memory reallocations per frame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Strides: </a:t>
            </a:r>
            <a:r>
              <a:rPr sz="1300">
                <a:solidFill>
                  <a:srgbClr val="1E293B"/>
                </a:solidFill>
              </a:rPr>
              <a:t>Non-contiguous memory requires extra copy for GPU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Throughput: </a:t>
            </a:r>
            <a:r>
              <a:rPr sz="1300">
                <a:solidFill>
                  <a:srgbClr val="1E293B"/>
                </a:solidFill>
              </a:rPr>
              <a:t>Bottlenecked at ~45 FPS per CPU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OpenCV C-Contiguous Engine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Decoding: </a:t>
            </a:r>
            <a:r>
              <a:rPr sz="1300">
                <a:solidFill>
                  <a:srgbClr val="1E293B"/>
                </a:solidFill>
              </a:rPr>
              <a:t>Direct libjpeg-turbo C++ vectorized decode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Letterboxing: </a:t>
            </a:r>
            <a:r>
              <a:rPr sz="1300">
                <a:solidFill>
                  <a:srgbClr val="1E293B"/>
                </a:solidFill>
              </a:rPr>
              <a:t>Aspect-ratio preserving padding without distorting geometry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Memory: </a:t>
            </a:r>
            <a:r>
              <a:rPr sz="1300">
                <a:solidFill>
                  <a:srgbClr val="1E293B"/>
                </a:solidFill>
              </a:rPr>
              <a:t>Strict np.ascontiguousarray() zero-copy GPU tensors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Throughput: </a:t>
            </a:r>
            <a:r>
              <a:rPr sz="1300">
                <a:solidFill>
                  <a:srgbClr val="1E293B"/>
                </a:solidFill>
              </a:rPr>
              <a:t>Sustains 150+ FPS real-time throughput on standard CPU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02: ENGINE REFACTORING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Engine Implementation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exact syntax leap required to refactor the naive prototype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OpenCV Tensor Transformation Syntax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Direct Decode: </a:t>
            </a:r>
            <a:r>
              <a:rPr sz="1250">
                <a:solidFill>
                  <a:srgbClr val="1E293B"/>
                </a:solidFill>
              </a:rPr>
              <a:t>cv2.imdecode reads byte buffers directly into NumPy C-buffers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Aspect Padding: </a:t>
            </a:r>
            <a:r>
              <a:rPr sz="1250">
                <a:solidFill>
                  <a:srgbClr val="1E293B"/>
                </a:solidFill>
              </a:rPr>
              <a:t>Computes scaling ratio and pads margins symmetrically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Channel Order: </a:t>
            </a:r>
            <a:r>
              <a:rPr sz="1250">
                <a:solidFill>
                  <a:srgbClr val="1E293B"/>
                </a:solidFill>
              </a:rPr>
              <a:t>cv2.cvtColor converts BGR to RGB in SIMD hardware registers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Tensor Format: </a:t>
            </a:r>
            <a:r>
              <a:rPr sz="1250">
                <a:solidFill>
                  <a:srgbClr val="1E293B"/>
                </a:solidFill>
              </a:rPr>
              <a:t>Produces exact (1, 3, 640, 640) contiguous float32 tensor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Production OpenCV C-Contiguous Engine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cv2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numpy as np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def letterbox_tensor(raw_bytes, target_size=(640, 640)):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# Direct C++ decode into contiguous BGR buffer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buf = np.frombuffer(raw_bytes, dtype=np.uint8)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img = cv2.imdecode(buf, cv2.IMREAD_COLOR)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# Color conversion and normalized tensor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rgb = cv2.cvtColor(img, cv2.COLOR_BGR2RGB)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resized = cv2.resize(rgb, target_size, interpolation=cv2.INTER_LINEAR)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tensor = np.ascontiguousarray(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np.transpose(resized, (2, 0, 1))[np.newaxis, ...],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dtype=np.float32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) / 255.0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return tensor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EMPIRICAL PROOF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Head-to-Head Profiling &amp; Parity Gate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Measuring speedup, memory reduction, and strict mathematical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Empirical Benchmarks &amp; Verification Checks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Verified Throughput: </a:t>
            </a:r>
            <a:r>
              <a:rPr sz="1400">
                <a:solidFill>
                  <a:srgbClr val="1E293B"/>
                </a:solidFill>
                <a:latin typeface="Calibri"/>
              </a:rPr>
              <a:t>OpenCV achieved 150.3 FPS vs PIL's 98.7 FPS (1.5x throughput gain).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Zero Copy to GPU: </a:t>
            </a:r>
            <a:r>
              <a:rPr sz="1400">
                <a:solidFill>
                  <a:srgbClr val="1E293B"/>
                </a:solidFill>
                <a:latin typeface="Calibri"/>
              </a:rPr>
              <a:t>np.ascontiguousarray ensures tensor bytes can be DMA-transferred directly to GPU memory without host reallocations.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Exact Shape Guarantee: </a:t>
            </a:r>
            <a:r>
              <a:rPr sz="1400">
                <a:solidFill>
                  <a:srgbClr val="1E293B"/>
                </a:solidFill>
                <a:latin typeface="Calibri"/>
              </a:rPr>
              <a:t>Outputs strict (B, 3, 640, 640) float32 tensor matching ONNX/TensorRT runtime contracts.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Precision Verification: </a:t>
            </a:r>
            <a:r>
              <a:rPr sz="1400">
                <a:solidFill>
                  <a:srgbClr val="1E293B"/>
                </a:solidFill>
                <a:latin typeface="Calibri"/>
              </a:rPr>
              <a:t>Pixel values matched mathematical normalization within 1e-4 float tolerance.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03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 Sparring &amp; Defensive Engineering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Hardening systems against schema drift, dirty data, and network faults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LIVE PRACTICE &amp; DEFENSE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Notebook Clinic ('We Do') &amp; Challenge ('You Do')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Putting concepts into practice with guided hands-on execution and defensive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Clinic Practice ('We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Open Notebook: </a:t>
            </a:r>
            <a:r>
              <a:rPr sz="1300">
                <a:solidFill>
                  <a:srgbClr val="1E293B"/>
                </a:solidFill>
              </a:rPr>
              <a:t>Open content/notebooks/unit_03_ds_to_engine.ipynb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Run Baseline: </a:t>
            </a:r>
            <a:r>
              <a:rPr sz="1300">
                <a:solidFill>
                  <a:srgbClr val="1E293B"/>
                </a:solidFill>
              </a:rPr>
              <a:t>Execute Cells 1-3 to reproduce the baseline naive bottleneck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Live Refactoring: </a:t>
            </a:r>
            <a:r>
              <a:rPr sz="1300">
                <a:solidFill>
                  <a:srgbClr val="1E293B"/>
                </a:solidFill>
              </a:rPr>
              <a:t>Implement Cell 4 together using the modern engine syntax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Verify Parity: </a:t>
            </a:r>
            <a:r>
              <a:rPr sz="1300">
                <a:solidFill>
                  <a:srgbClr val="1E293B"/>
                </a:solidFill>
              </a:rPr>
              <a:t>Run Cell 7 assertion tests to confirm green test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Defensive Challenge ('You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Injected Scenario: </a:t>
            </a:r>
            <a:r>
              <a:rPr sz="1300">
                <a:solidFill>
                  <a:srgbClr val="1E293B"/>
                </a:solidFill>
              </a:rPr>
              <a:t>Corrupt Byte Streams &amp; Malformed JPEG Headers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Defensive Gate: </a:t>
            </a:r>
            <a:r>
              <a:rPr sz="1300">
                <a:solidFill>
                  <a:srgbClr val="1E293B"/>
                </a:solidFill>
              </a:rPr>
              <a:t>Detect None return from cv2.imdecode and route corrupt frames to Dead Letter Queue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Student Mission: </a:t>
            </a:r>
            <a:r>
              <a:rPr sz="1300">
                <a:solidFill>
                  <a:srgbClr val="1E293B"/>
                </a:solidFill>
              </a:rPr>
              <a:t>Modify the engine code in Cell 8 to handle this edge case without terminating the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Submission: </a:t>
            </a:r>
            <a:r>
              <a:rPr sz="1300">
                <a:solidFill>
                  <a:srgbClr val="1E293B"/>
                </a:solidFill>
              </a:rPr>
              <a:t>Verify green test status before the end of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KEY TAKEAWAYS &amp; NEXT STEPS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Clinic Summary &amp; Bridge to Lab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Solidifying Unit 03 Competencies for Applied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Architectural Takeaways &amp; Preparation for Slot 3/4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Core Principle: </a:t>
            </a:r>
            <a:r>
              <a:rPr sz="1400">
                <a:solidFill>
                  <a:srgbClr val="1E293B"/>
                </a:solidFill>
                <a:latin typeface="Calibri"/>
              </a:rPr>
              <a:t>Computer vision data engineering is about memory alignment and zero-copy buffers, not just resizing.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Golden Rule: </a:t>
            </a:r>
            <a:r>
              <a:rPr sz="1400">
                <a:solidFill>
                  <a:srgbClr val="1E293B"/>
                </a:solidFill>
                <a:latin typeface="Calibri"/>
              </a:rPr>
              <a:t>Always verify tensor.flags['C_CONTIGUOUS'] is True before handing arrays to inference runtimes.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Bridge to Slot 3/4 Lab: </a:t>
            </a:r>
            <a:r>
              <a:rPr sz="1400">
                <a:solidFill>
                  <a:srgbClr val="1E293B"/>
                </a:solidFill>
                <a:latin typeface="Calibri"/>
              </a:rPr>
              <a:t>In the lab, you will build an end-to-end multimodal video ingestion pipeline with OpenCV and Ray.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Preparation: </a:t>
            </a:r>
            <a:r>
              <a:rPr sz="1400">
                <a:solidFill>
                  <a:srgbClr val="1E293B"/>
                </a:solidFill>
                <a:latin typeface="Calibri"/>
              </a:rPr>
              <a:t>Review OpenCV array manipulation and letterbox algorithms prior to the Slot 4 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