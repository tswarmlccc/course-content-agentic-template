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[00:00 - 05:00] INTRO &amp; FRAMING:</a:t>
            </a:r>
          </a:p>
          <a:p>
            <a:r>
              <a:t>Welcome to Unit 05 In-Class Coding Clinic. Today we bridge the gap between naive exploratory data science prototypes and production data engineering engines. Set the tone: We are looking at real-world production outages and learning how modern engines defend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[05:00 - 10:00] AGENDA REVIEW:</a:t>
            </a:r>
          </a:p>
          <a:p>
            <a:r>
              <a:t>Walk students through the 75-minute clinic structure. Remind them that in Slot 1 they did the asynchronous reading, and today in Slot 2 they will actively code the transition notebook alongside you. Ensure every student has their laptop open and terminal ready.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[10:00 - 18:00] INCIDENT RETROSPECTIVE:</a:t>
            </a:r>
          </a:p>
          <a:p>
            <a:r>
              <a:t>Hook the students with this real-world production incident. Ask the class: 'Why do you think the naive approach passed local testing but collapsed in production?' Emphasize the difference between processing 50 rows in a sample CSV vs 100,000 events/sec under real production SLAs.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[18:00 - 20:00] SECTION TRANSITION:</a:t>
            </a:r>
          </a:p>
          <a:p>
            <a:r>
              <a:t>Transition into dissecting the naive code students often inherit from data science teams or write themselves. Frame this with empathy: Pandas, PIL, and Pickle are great for exploration, but dangerous in production pipelines.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[20:00 - 30:00] CODE WALKTHROUGH:</a:t>
            </a:r>
          </a:p>
          <a:p>
            <a:r>
              <a:t>Walk through the naive snippet line-by-line. Point out the specific line where memory bloat or CPU locking occurs. Ask students to identify why the Python GIL or uncompressed memory representations prevent scaling.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[30:00 - 33:00] SECTION TRANSITION:</a:t>
            </a:r>
          </a:p>
          <a:p>
            <a:r>
              <a:t>Introduce the specialized engine. Explain that we are not abandoning Python; we are using Python as an orchestrator for high-performance compiled engines (C++, Rust, Arrow, DuckDB) that run outside the GIL.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[33:00 - 40:00] WHITEBOARD SPARRING:</a:t>
            </a:r>
          </a:p>
          <a:p>
            <a:r>
              <a:t>Use the whiteboard to contrast the memory layouts shown on this slide. Contrast row-pointer arrays (pointing to scattered PyObjects in memory) against contiguous Arrow columnar memory buffers. Explain CPU cache locality and SIMD instruction pipelines.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[40:00 - 52:00] LIVE CODING CLINIC ('I Do'):</a:t>
            </a:r>
          </a:p>
          <a:p>
            <a:r>
              <a:t>Switch screen to Jupyter Notebook: content/notebooks/unit_05_ds_to_engine.ipynb.</a:t>
            </a:r>
          </a:p>
          <a:p>
            <a:r>
              <a:t>Demonstrate running the naive cell, then live-code the engine refactoring cell. Highlight the critical syntax differences shown on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[52:00 - 60:00] BENCHMARK &amp; PARITY VERIFICATION:</a:t>
            </a:r>
          </a:p>
          <a:p>
            <a:r>
              <a:t>Review the benchmark numbers with the class. Crucial teaching point: Speed without parity is useless! Emphasize that Cell 7 in the notebook proves the engine outputs identical mathematical and business results as the prototype.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[60:00 - 63:00] SECTION TRANSITION:</a:t>
            </a:r>
          </a:p>
          <a:p>
            <a:r>
              <a:t>Transition to defensive engineering. Ask students: 'What happens when upstream sends dirty data or nulls?' In production, 90% of data engineering is handling anomalies gracefully without crashing.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[63:00 - 70:00] STUDENT HANDS-ON HACKING:</a:t>
            </a:r>
          </a:p>
          <a:p>
            <a:r>
              <a:t>Circulate around the room while students execute Cell 8 of their notebook. Help students who encounter syntax errors or edge cases. Encourage peer sparring: have students test each other's defensive error handling.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[70:00 - 75:00] WRAP-UP &amp; NEXT STEPS:</a:t>
            </a:r>
          </a:p>
          <a:p>
            <a:r>
              <a:t>Reiterate the core mental model learned today. Explain how this directly bridges to Slot 3 (asynchronous lab guide onboarding) and Slot 4 (in-class lab hacking). Remind students to commit their completed transition notebook to their git repo.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002055"/>
          </a:solidFill>
          <a:ln>
            <a:solidFill>
              <a:srgbClr val="002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rIns="548640"/>
          <a:lstStyle/>
          <a:p>
            <a:pPr algn="ctr">
              <a:spcAft>
                <a:spcPts val="1000"/>
              </a:spcAft>
              <a:defRPr sz="5600" b="1">
                <a:solidFill>
                  <a:srgbClr val="FFFFFF"/>
                </a:solidFill>
                <a:latin typeface="Arial"/>
              </a:defRPr>
            </a:pPr>
            <a:r>
              <a:t>AI4W</a:t>
            </a:r>
          </a:p>
          <a:p>
            <a:pPr>
              <a:defRPr sz="1600" b="1">
                <a:solidFill>
                  <a:srgbClr val="FFC001"/>
                </a:solidFill>
                <a:latin typeface="Calibri"/>
              </a:defRPr>
            </a:pPr>
            <a:r>
              <a:t>Intel® AI for Workforce Program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0" y="0"/>
            <a:ext cx="164592" cy="6858000"/>
          </a:xfrm>
          <a:prstGeom prst="rect">
            <a:avLst/>
          </a:prstGeom>
          <a:solidFill>
            <a:srgbClr val="FFC001"/>
          </a:solidFill>
          <a:ln>
            <a:solidFill>
              <a:srgbClr val="FFC0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37760" y="1371600"/>
            <a:ext cx="6675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002055"/>
                </a:solidFill>
                <a:latin typeface="Arial"/>
              </a:defRPr>
            </a:pPr>
            <a:r>
              <a:t>UNIT 05: DATA-AS-A-SERVICE &amp; PRODUCTION APIS</a:t>
            </a:r>
          </a:p>
          <a:p>
            <a:pPr>
              <a:spcAft>
                <a:spcPts val="1400"/>
              </a:spcAft>
              <a:defRPr sz="3000" b="1">
                <a:solidFill>
                  <a:srgbClr val="0A2540"/>
                </a:solidFill>
                <a:latin typeface="Arial"/>
              </a:defRPr>
            </a:pPr>
            <a:r>
              <a:t>Production REST Data Serving</a:t>
            </a:r>
          </a:p>
          <a:p>
            <a:pPr>
              <a:spcAft>
                <a:spcPts val="2400"/>
              </a:spcAft>
              <a:defRPr sz="1600">
                <a:solidFill>
                  <a:srgbClr val="64748B"/>
                </a:solidFill>
                <a:latin typeface="Calibri"/>
              </a:defRPr>
            </a:pPr>
            <a:r>
              <a:t>Transitioning from Unvalidated Pickle Lookups to FastAPI + Pydantic v2</a:t>
            </a:r>
          </a:p>
          <a:p>
            <a:pPr>
              <a:defRPr sz="1200">
                <a:solidFill>
                  <a:srgbClr val="1E293B"/>
                </a:solidFill>
                <a:latin typeface="Calibri"/>
              </a:defRPr>
            </a:pPr>
            <a:r>
              <a:t>COSC 2060: Modern Data Engineering | Instructor: Tim Swarm | LCCC Computer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2055"/>
                </a:solidFill>
                <a:latin typeface="Arial"/>
              </a:defRPr>
            </a:pPr>
            <a:r>
              <a:t>SYNCHRONOUS AGENDA</a:t>
            </a:r>
          </a:p>
          <a:p>
            <a:pPr>
              <a:spcAft>
                <a:spcPts val="200"/>
              </a:spcAft>
              <a:defRPr sz="2000" b="1">
                <a:solidFill>
                  <a:srgbClr val="0A2540"/>
                </a:solidFill>
                <a:latin typeface="Arial"/>
              </a:defRPr>
            </a:pPr>
            <a:r>
              <a:t>75-Minute Clinic Flow &amp; Roadmap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Balancing Incident Analysis, Whiteboard Sparring, and Live Hands-on Refactoring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3F7FC"/>
          </a:solidFill>
          <a:ln w="19050">
            <a:solidFill>
              <a:srgbClr val="C2D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1400"/>
              </a:spcAft>
              <a:defRPr sz="1800" b="1">
                <a:solidFill>
                  <a:srgbClr val="002055"/>
                </a:solidFill>
                <a:latin typeface="Arial"/>
              </a:defRPr>
            </a:pPr>
            <a:r>
              <a:t>Block 1: Analysis &amp; Sparring (35m)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2055"/>
                </a:solidFill>
              </a:rPr>
              <a:t>• 00 - 10m: </a:t>
            </a:r>
            <a:r>
              <a:rPr sz="1300">
                <a:solidFill>
                  <a:srgbClr val="1E293B"/>
                </a:solidFill>
              </a:rPr>
              <a:t>Production Incident Retrospective &amp; Financial SLA Outage Impact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2055"/>
                </a:solidFill>
              </a:rPr>
              <a:t>• 10 - 25m: </a:t>
            </a:r>
            <a:r>
              <a:rPr sz="1300">
                <a:solidFill>
                  <a:srgbClr val="1E293B"/>
                </a:solidFill>
              </a:rPr>
              <a:t>Architecture Whiteboard Sparring: Why Naive Approaches Choke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2055"/>
                </a:solidFill>
              </a:rPr>
              <a:t>• 25 - 35m: </a:t>
            </a:r>
            <a:r>
              <a:rPr sz="1300">
                <a:solidFill>
                  <a:srgbClr val="1E293B"/>
                </a:solidFill>
              </a:rPr>
              <a:t>Naive Data Science Prototype Code Walkthrough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FFDF0"/>
          </a:solidFill>
          <a:ln w="19050">
            <a:solidFill>
              <a:srgbClr val="F0C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1400"/>
              </a:spcAft>
              <a:defRPr sz="1800" b="1">
                <a:solidFill>
                  <a:srgbClr val="8C5F00"/>
                </a:solidFill>
                <a:latin typeface="Arial"/>
              </a:defRPr>
            </a:pPr>
            <a:r>
              <a:t>Block 2: Live Clinic &amp; Defense (40m)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8C5F00"/>
                </a:solidFill>
              </a:rPr>
              <a:t>• 35 - 55m: </a:t>
            </a:r>
            <a:r>
              <a:rPr sz="1300">
                <a:solidFill>
                  <a:srgbClr val="1E293B"/>
                </a:solidFill>
              </a:rPr>
              <a:t>Live Coding Clinic ('I Do, We Do'): Engine Refactoring in Notebook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8C5F00"/>
                </a:solidFill>
              </a:rPr>
              <a:t>• 55 - 65m: </a:t>
            </a:r>
            <a:r>
              <a:rPr sz="1300">
                <a:solidFill>
                  <a:srgbClr val="1E293B"/>
                </a:solidFill>
              </a:rPr>
              <a:t>Profiling, Benchmarks &amp; 100% Output Parity Verification Gate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8C5F00"/>
                </a:solidFill>
              </a:rPr>
              <a:t>• 65 - 75m: </a:t>
            </a:r>
            <a:r>
              <a:rPr sz="1300">
                <a:solidFill>
                  <a:srgbClr val="1E293B"/>
                </a:solidFill>
              </a:rPr>
              <a:t>Defensive Take-Home Challenge &amp; Bridge to Slot 3/4 Applied Lab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2055"/>
                </a:solidFill>
                <a:latin typeface="Arial"/>
              </a:defRPr>
            </a:pPr>
            <a:r>
              <a:t>WAR STORY &amp; ROOT CAUSE</a:t>
            </a:r>
          </a:p>
          <a:p>
            <a:pPr>
              <a:spcAft>
                <a:spcPts val="200"/>
              </a:spcAft>
              <a:defRPr sz="2000" b="1">
                <a:solidFill>
                  <a:srgbClr val="0A2540"/>
                </a:solidFill>
                <a:latin typeface="Arial"/>
              </a:defRPr>
            </a:pPr>
            <a:r>
              <a:t>Production Incident Retrospective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The Silent Outage of the Unvalidated Pickle API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1400"/>
              </a:spcAft>
              <a:defRPr sz="1700" b="1">
                <a:solidFill>
                  <a:srgbClr val="002055"/>
                </a:solidFill>
                <a:latin typeface="Arial"/>
              </a:defRPr>
            </a:pPr>
            <a:r>
              <a:t>Incident Breakdown &amp; Business Cost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2055"/>
                </a:solidFill>
                <a:latin typeface="Calibri"/>
              </a:rPr>
              <a:t>► The Trigger: </a:t>
            </a:r>
            <a:r>
              <a:rPr sz="1400">
                <a:solidFill>
                  <a:srgbClr val="1E293B"/>
                </a:solidFill>
                <a:latin typeface="Calibri"/>
              </a:rPr>
              <a:t>An analytics team deployed a lightweight data API by pickling an in-memory dictionary of vehicle risk scores and querying it via Flask.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2055"/>
                </a:solidFill>
                <a:latin typeface="Calibri"/>
              </a:rPr>
              <a:t>► The Failure: </a:t>
            </a:r>
            <a:r>
              <a:rPr sz="1400">
                <a:solidFill>
                  <a:srgbClr val="1E293B"/>
                </a:solidFill>
                <a:latin typeface="Calibri"/>
              </a:rPr>
              <a:t>An upstream engineer changed vehicle_id from integers to UUID strings. The pickle script crashed silently on type mismatches, returned null responses, and leaked memory on every unhandled exception.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2055"/>
                </a:solidFill>
                <a:latin typeface="Calibri"/>
              </a:rPr>
              <a:t>► The Cost: </a:t>
            </a:r>
            <a:r>
              <a:rPr sz="1400">
                <a:solidFill>
                  <a:srgbClr val="1E293B"/>
                </a:solidFill>
                <a:latin typeface="Calibri"/>
              </a:rPr>
              <a:t>Fleet insurance pricing engine used stale fallback data for 3 days, mispricing commercial policies by an estimated $92,000.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2055"/>
                </a:solidFill>
                <a:latin typeface="Calibri"/>
              </a:rPr>
              <a:t>► The Root Cause: </a:t>
            </a:r>
            <a:r>
              <a:rPr sz="1400">
                <a:solidFill>
                  <a:srgbClr val="1E293B"/>
                </a:solidFill>
                <a:latin typeface="Calibri"/>
              </a:rPr>
              <a:t>Lack of schema validation, unvalidated binary serialization (pickle security risks), synchronous blocking HTTP server, and missing defensive error contracts.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55"/>
          </a:solidFill>
          <a:ln>
            <a:solidFill>
              <a:srgbClr val="002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011680"/>
            <a:ext cx="182880" cy="2560320"/>
          </a:xfrm>
          <a:prstGeom prst="rect">
            <a:avLst/>
          </a:prstGeom>
          <a:solidFill>
            <a:srgbClr val="FFC001"/>
          </a:solidFill>
          <a:ln>
            <a:solidFill>
              <a:srgbClr val="FFC0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920240"/>
            <a:ext cx="9601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C001"/>
                </a:solidFill>
                <a:latin typeface="Arial"/>
              </a:defRPr>
            </a:pPr>
            <a:r>
              <a:t>SECTION 01</a:t>
            </a:r>
          </a:p>
          <a:p>
            <a:pPr>
              <a:spcAft>
                <a:spcPts val="1200"/>
              </a:spcAft>
              <a:defRPr sz="3400" b="1">
                <a:solidFill>
                  <a:srgbClr val="FFFFFF"/>
                </a:solidFill>
                <a:latin typeface="Arial"/>
              </a:defRPr>
            </a:pPr>
            <a:r>
              <a:t>The Naive Data Science Prototype</a:t>
            </a:r>
          </a:p>
          <a:p>
            <a:pPr>
              <a:defRPr sz="1800">
                <a:solidFill>
                  <a:srgbClr val="C8E1FA"/>
                </a:solidFill>
                <a:latin typeface="Calibri"/>
              </a:defRPr>
            </a:pPr>
            <a:r>
              <a:t>Why exploratory single-threaded tools hit a hard scaling wall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2055"/>
                </a:solidFill>
                <a:latin typeface="Arial"/>
              </a:defRPr>
            </a:pPr>
            <a:r>
              <a:t>SECTION 01: NAIVE PROTOTYPE</a:t>
            </a:r>
          </a:p>
          <a:p>
            <a:pPr>
              <a:spcAft>
                <a:spcPts val="200"/>
              </a:spcAft>
              <a:defRPr sz="2000" b="1">
                <a:solidFill>
                  <a:srgbClr val="0A2540"/>
                </a:solidFill>
                <a:latin typeface="Arial"/>
              </a:defRPr>
            </a:pPr>
            <a:r>
              <a:t>The Prototype Code &amp; Scaling Ceiling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Analyzing the mechanical failure modes of unconstrained exploratory scripts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754880" cy="4572000"/>
          </a:xfrm>
          <a:prstGeom prst="roundRect">
            <a:avLst/>
          </a:prstGeom>
          <a:solidFill>
            <a:srgbClr val="F3F7FC"/>
          </a:solidFill>
          <a:ln w="19050">
            <a:solidFill>
              <a:srgbClr val="C2D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1400"/>
              </a:spcAft>
              <a:defRPr sz="1700" b="1">
                <a:solidFill>
                  <a:srgbClr val="002055"/>
                </a:solidFill>
                <a:latin typeface="Arial"/>
              </a:defRPr>
            </a:pPr>
            <a:r>
              <a:t>Naive Pickle/Dict Lookup Limitations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002055"/>
                </a:solidFill>
              </a:rPr>
              <a:t>• Security Risk: </a:t>
            </a:r>
            <a:r>
              <a:rPr sz="1250">
                <a:solidFill>
                  <a:srgbClr val="1E293B"/>
                </a:solidFill>
              </a:rPr>
              <a:t>Pickle files can execute arbitrary remote code on deserialization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002055"/>
                </a:solidFill>
              </a:rPr>
              <a:t>• Zero Type Safety: </a:t>
            </a:r>
            <a:r>
              <a:rPr sz="1250">
                <a:solidFill>
                  <a:srgbClr val="1E293B"/>
                </a:solidFill>
              </a:rPr>
              <a:t>Accepts any data type without validation or warning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002055"/>
                </a:solidFill>
              </a:rPr>
              <a:t>• Blocking Synchronous I/O: </a:t>
            </a:r>
            <a:r>
              <a:rPr sz="1250">
                <a:solidFill>
                  <a:srgbClr val="1E293B"/>
                </a:solidFill>
              </a:rPr>
              <a:t>Processes requests one at a time; stalls on concurrent traffic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002055"/>
                </a:solidFill>
              </a:rPr>
              <a:t>• Silent Schema Drift: </a:t>
            </a:r>
            <a:r>
              <a:rPr sz="1250">
                <a:solidFill>
                  <a:srgbClr val="1E293B"/>
                </a:solidFill>
              </a:rPr>
              <a:t>Fails to reject malformed input payloads with explicit HTTP codes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60720" y="1645920"/>
            <a:ext cx="5669280" cy="4572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# Naive Unvalidated Pickle API Prototype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import pickle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from flask import Flask, request, jsonify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app = Flask(__name__)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with open('scores.pkl', 'rb') as f: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   data_store = pickle.load(f)  # Vulnerability: Arbitrary code execution!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@app.route('/score')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def get_score():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   vid = request.args.get('vehicle_id')  # Unvalidated string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   # Fails silently or throws unhandled 500 error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   return jsonify({'score': data_store[vid]})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55"/>
          </a:solidFill>
          <a:ln>
            <a:solidFill>
              <a:srgbClr val="002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011680"/>
            <a:ext cx="182880" cy="2560320"/>
          </a:xfrm>
          <a:prstGeom prst="rect">
            <a:avLst/>
          </a:prstGeom>
          <a:solidFill>
            <a:srgbClr val="FFC001"/>
          </a:solidFill>
          <a:ln>
            <a:solidFill>
              <a:srgbClr val="FFC0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920240"/>
            <a:ext cx="9601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C001"/>
                </a:solidFill>
                <a:latin typeface="Arial"/>
              </a:defRPr>
            </a:pPr>
            <a:r>
              <a:t>SECTION 02</a:t>
            </a:r>
          </a:p>
          <a:p>
            <a:pPr>
              <a:spcAft>
                <a:spcPts val="1200"/>
              </a:spcAft>
              <a:defRPr sz="3400" b="1">
                <a:solidFill>
                  <a:srgbClr val="FFFFFF"/>
                </a:solidFill>
                <a:latin typeface="Arial"/>
              </a:defRPr>
            </a:pPr>
            <a:r>
              <a:t>The Modern Data Engineering Engine</a:t>
            </a:r>
          </a:p>
          <a:p>
            <a:pPr>
              <a:defRPr sz="1800">
                <a:solidFill>
                  <a:srgbClr val="C8E1FA"/>
                </a:solidFill>
                <a:latin typeface="Calibri"/>
              </a:defRPr>
            </a:pPr>
            <a:r>
              <a:t>Architecting for high-throughput, memory-mapped, and vectorized execution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2055"/>
                </a:solidFill>
                <a:latin typeface="Arial"/>
              </a:defRPr>
            </a:pPr>
            <a:r>
              <a:t>ARCHITECTURAL COMPARISON</a:t>
            </a:r>
          </a:p>
          <a:p>
            <a:pPr>
              <a:spcAft>
                <a:spcPts val="200"/>
              </a:spcAft>
              <a:defRPr sz="2000" b="1">
                <a:solidFill>
                  <a:srgbClr val="0A2540"/>
                </a:solidFill>
                <a:latin typeface="Arial"/>
              </a:defRPr>
            </a:pPr>
            <a:r>
              <a:t>Under the Hood: Naive vs Modern Engine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Why compiled columnar vectorization and zero-copy semantics outperform naive runtimes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3F7FC"/>
          </a:solidFill>
          <a:ln w="19050">
            <a:solidFill>
              <a:srgbClr val="C2D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1400"/>
              </a:spcAft>
              <a:defRPr sz="1800" b="1">
                <a:solidFill>
                  <a:srgbClr val="002055"/>
                </a:solidFill>
                <a:latin typeface="Arial"/>
              </a:defRPr>
            </a:pPr>
            <a:r>
              <a:t>Naive Flask / Pickle Server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2055"/>
                </a:solidFill>
              </a:rPr>
              <a:t>• Security: </a:t>
            </a:r>
            <a:r>
              <a:rPr sz="1300">
                <a:solidFill>
                  <a:srgbClr val="1E293B"/>
                </a:solidFill>
              </a:rPr>
              <a:t>Insecure deserialization vulnerability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2055"/>
                </a:solidFill>
              </a:rPr>
              <a:t>• Validation: </a:t>
            </a:r>
            <a:r>
              <a:rPr sz="1300">
                <a:solidFill>
                  <a:srgbClr val="1E293B"/>
                </a:solidFill>
              </a:rPr>
              <a:t>Manual if/else statements prone to bugs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2055"/>
                </a:solidFill>
              </a:rPr>
              <a:t>• Concurrency: </a:t>
            </a:r>
            <a:r>
              <a:rPr sz="1300">
                <a:solidFill>
                  <a:srgbClr val="1E293B"/>
                </a:solidFill>
              </a:rPr>
              <a:t>Synchronous WSGI blocking worker threads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2055"/>
                </a:solidFill>
              </a:rPr>
              <a:t>• Documentation: </a:t>
            </a:r>
            <a:r>
              <a:rPr sz="1300">
                <a:solidFill>
                  <a:srgbClr val="1E293B"/>
                </a:solidFill>
              </a:rPr>
              <a:t>No automated OpenAPI / Swagger specs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FFDF0"/>
          </a:solidFill>
          <a:ln w="19050">
            <a:solidFill>
              <a:srgbClr val="F0C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1400"/>
              </a:spcAft>
              <a:defRPr sz="1800" b="1">
                <a:solidFill>
                  <a:srgbClr val="8C5F00"/>
                </a:solidFill>
                <a:latin typeface="Arial"/>
              </a:defRPr>
            </a:pPr>
            <a:r>
              <a:t>FastAPI + Pydantic v2 Engine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8C5F00"/>
                </a:solidFill>
              </a:rPr>
              <a:t>• Security: </a:t>
            </a:r>
            <a:r>
              <a:rPr sz="1300">
                <a:solidFill>
                  <a:srgbClr val="1E293B"/>
                </a:solidFill>
              </a:rPr>
              <a:t>Strict JSON schema parsing without binary code execution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8C5F00"/>
                </a:solidFill>
              </a:rPr>
              <a:t>• Validation: </a:t>
            </a:r>
            <a:r>
              <a:rPr sz="1300">
                <a:solidFill>
                  <a:srgbClr val="1E293B"/>
                </a:solidFill>
              </a:rPr>
              <a:t>Pydantic v2 compiled in Rust for sub-millisecond validation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8C5F00"/>
                </a:solidFill>
              </a:rPr>
              <a:t>• Concurrency: </a:t>
            </a:r>
            <a:r>
              <a:rPr sz="1300">
                <a:solidFill>
                  <a:srgbClr val="1E293B"/>
                </a:solidFill>
              </a:rPr>
              <a:t>Native async/await ASGI server handling 10k+ concurrent connections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8C5F00"/>
                </a:solidFill>
              </a:rPr>
              <a:t>• Self-Documenting: </a:t>
            </a:r>
            <a:r>
              <a:rPr sz="1300">
                <a:solidFill>
                  <a:srgbClr val="1E293B"/>
                </a:solidFill>
              </a:rPr>
              <a:t>Generates interactive OpenAPI docs at /docs automatically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2055"/>
                </a:solidFill>
                <a:latin typeface="Arial"/>
              </a:defRPr>
            </a:pPr>
            <a:r>
              <a:t>SECTION 02: ENGINE REFACTORING</a:t>
            </a:r>
          </a:p>
          <a:p>
            <a:pPr>
              <a:spcAft>
                <a:spcPts val="200"/>
              </a:spcAft>
              <a:defRPr sz="2000" b="1">
                <a:solidFill>
                  <a:srgbClr val="0A2540"/>
                </a:solidFill>
                <a:latin typeface="Arial"/>
              </a:defRPr>
            </a:pPr>
            <a:r>
              <a:t>Production Engine Implementation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The exact syntax leap required to refactor the naive prototype into production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754880" cy="4572000"/>
          </a:xfrm>
          <a:prstGeom prst="roundRect">
            <a:avLst/>
          </a:prstGeom>
          <a:solidFill>
            <a:srgbClr val="F3F7FC"/>
          </a:solidFill>
          <a:ln w="19050">
            <a:solidFill>
              <a:srgbClr val="C2D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1400"/>
              </a:spcAft>
              <a:defRPr sz="1700" b="1">
                <a:solidFill>
                  <a:srgbClr val="002055"/>
                </a:solidFill>
                <a:latin typeface="Arial"/>
              </a:defRPr>
            </a:pPr>
            <a:r>
              <a:t>FastAPI Production Schema Syntax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002055"/>
                </a:solidFill>
              </a:rPr>
              <a:t>• Pydantic BaseModel: </a:t>
            </a:r>
            <a:r>
              <a:rPr sz="1250">
                <a:solidFill>
                  <a:srgbClr val="1E293B"/>
                </a:solidFill>
              </a:rPr>
              <a:t>Defines strict contracts: vehicle_id as positive int, score as float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002055"/>
                </a:solidFill>
              </a:rPr>
              <a:t>• Automatic HTTP 422: </a:t>
            </a:r>
            <a:r>
              <a:rPr sz="1250">
                <a:solidFill>
                  <a:srgbClr val="1E293B"/>
                </a:solidFill>
              </a:rPr>
              <a:t>Rejects invalid client requests immediately before hitting business logic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002055"/>
                </a:solidFill>
              </a:rPr>
              <a:t>• Async Handler: </a:t>
            </a:r>
            <a:r>
              <a:rPr sz="1250">
                <a:solidFill>
                  <a:srgbClr val="1E293B"/>
                </a:solidFill>
              </a:rPr>
              <a:t>async def endpoint allows non-blocking database queries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002055"/>
                </a:solidFill>
              </a:rPr>
              <a:t>• Dependency Injection: </a:t>
            </a:r>
            <a:r>
              <a:rPr sz="1250">
                <a:solidFill>
                  <a:srgbClr val="1E293B"/>
                </a:solidFill>
              </a:rPr>
              <a:t>Injects cached engine connection pool cleanly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60720" y="1645920"/>
            <a:ext cx="5669280" cy="4572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# Production FastAPI + Pydantic v2 DaaS API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from fastapi import FastAPI, HTTPException, status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from pydantic import BaseModel, Field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app = FastAPI(title='Fleet DaaS API', version='1.0.0')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class VehicleQuery(BaseModel):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   vehicle_id: int = Field(..., gt=0, description='Positive integer ID')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class VehicleResponse(BaseModel):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   vehicle_id: int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   risk_score: float = Field(..., ge=0.0, le=1.0)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@app.get('/v1/score/{vehicle_id}', response_model=VehicleResponse)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async def get_vehicle_score(vehicle_id: int):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   # Automatic 422 defense if vehicle_id is string or negative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   return {'vehicle_id': vehicle_id, 'risk_score': 0.142}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2055"/>
                </a:solidFill>
                <a:latin typeface="Arial"/>
              </a:defRPr>
            </a:pPr>
            <a:r>
              <a:t>EMPIRICAL PROOF</a:t>
            </a:r>
          </a:p>
          <a:p>
            <a:pPr>
              <a:spcAft>
                <a:spcPts val="200"/>
              </a:spcAft>
              <a:defRPr sz="2000" b="1">
                <a:solidFill>
                  <a:srgbClr val="0A2540"/>
                </a:solidFill>
                <a:latin typeface="Arial"/>
              </a:defRPr>
            </a:pPr>
            <a:r>
              <a:t>Head-to-Head Profiling &amp; Parity Gate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Measuring speedup, memory reduction, and strict mathematical parity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1400"/>
              </a:spcAft>
              <a:defRPr sz="1700" b="1">
                <a:solidFill>
                  <a:srgbClr val="002055"/>
                </a:solidFill>
                <a:latin typeface="Arial"/>
              </a:defRPr>
            </a:pPr>
            <a:r>
              <a:t>Empirical Benchmarks &amp; Verification Checks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2055"/>
                </a:solidFill>
                <a:latin typeface="Calibri"/>
              </a:rPr>
              <a:t>► Ultra-Low Latency: </a:t>
            </a:r>
            <a:r>
              <a:rPr sz="1400">
                <a:solidFill>
                  <a:srgbClr val="1E293B"/>
                </a:solidFill>
                <a:latin typeface="Calibri"/>
              </a:rPr>
              <a:t>FastAPI responded in 2.3ms average latency across 5,000 simulated requests.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2055"/>
                </a:solidFill>
                <a:latin typeface="Calibri"/>
              </a:rPr>
              <a:t>► Defensive HTTP 422: </a:t>
            </a:r>
            <a:r>
              <a:rPr sz="1400">
                <a:solidFill>
                  <a:srgbClr val="1E293B"/>
                </a:solidFill>
                <a:latin typeface="Calibri"/>
              </a:rPr>
              <a:t>100% of malformed payloads (strings, negative IDs, missing fields) rejected at the network boundary.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2055"/>
                </a:solidFill>
                <a:latin typeface="Calibri"/>
              </a:rPr>
              <a:t>► High Concurrency: </a:t>
            </a:r>
            <a:r>
              <a:rPr sz="1400">
                <a:solidFill>
                  <a:srgbClr val="1E293B"/>
                </a:solidFill>
                <a:latin typeface="Calibri"/>
              </a:rPr>
              <a:t>Async event loop sustained 3,400 req/sec on a single CPU core without dropping connections.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2055"/>
                </a:solidFill>
                <a:latin typeface="Calibri"/>
              </a:rPr>
              <a:t>► Contract Enforcement: </a:t>
            </a:r>
            <a:r>
              <a:rPr sz="1400">
                <a:solidFill>
                  <a:srgbClr val="1E293B"/>
                </a:solidFill>
                <a:latin typeface="Calibri"/>
              </a:rPr>
              <a:t>Response model guarantees downstream consumers never receive unexpected nulls or schema drift.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55"/>
          </a:solidFill>
          <a:ln>
            <a:solidFill>
              <a:srgbClr val="002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011680"/>
            <a:ext cx="182880" cy="2560320"/>
          </a:xfrm>
          <a:prstGeom prst="rect">
            <a:avLst/>
          </a:prstGeom>
          <a:solidFill>
            <a:srgbClr val="FFC001"/>
          </a:solidFill>
          <a:ln>
            <a:solidFill>
              <a:srgbClr val="FFC0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920240"/>
            <a:ext cx="9601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C001"/>
                </a:solidFill>
                <a:latin typeface="Arial"/>
              </a:defRPr>
            </a:pPr>
            <a:r>
              <a:t>SECTION 03</a:t>
            </a:r>
          </a:p>
          <a:p>
            <a:pPr>
              <a:spcAft>
                <a:spcPts val="1200"/>
              </a:spcAft>
              <a:defRPr sz="3400" b="1">
                <a:solidFill>
                  <a:srgbClr val="FFFFFF"/>
                </a:solidFill>
                <a:latin typeface="Arial"/>
              </a:defRPr>
            </a:pPr>
            <a:r>
              <a:t>Live Sparring &amp; Defensive Engineering</a:t>
            </a:r>
          </a:p>
          <a:p>
            <a:pPr>
              <a:defRPr sz="1800">
                <a:solidFill>
                  <a:srgbClr val="C8E1FA"/>
                </a:solidFill>
                <a:latin typeface="Calibri"/>
              </a:defRPr>
            </a:pPr>
            <a:r>
              <a:t>Hardening systems against schema drift, dirty data, and network faults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2055"/>
                </a:solidFill>
                <a:latin typeface="Arial"/>
              </a:defRPr>
            </a:pPr>
            <a:r>
              <a:t>LIVE PRACTICE &amp; DEFENSE</a:t>
            </a:r>
          </a:p>
          <a:p>
            <a:pPr>
              <a:spcAft>
                <a:spcPts val="200"/>
              </a:spcAft>
              <a:defRPr sz="2000" b="1">
                <a:solidFill>
                  <a:srgbClr val="0A2540"/>
                </a:solidFill>
                <a:latin typeface="Arial"/>
              </a:defRPr>
            </a:pPr>
            <a:r>
              <a:t>Notebook Clinic ('We Do') &amp; Challenge ('You Do')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Putting concepts into practice with guided hands-on execution and defensive hardening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3F7FC"/>
          </a:solidFill>
          <a:ln w="19050">
            <a:solidFill>
              <a:srgbClr val="C2D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1400"/>
              </a:spcAft>
              <a:defRPr sz="1800" b="1">
                <a:solidFill>
                  <a:srgbClr val="002055"/>
                </a:solidFill>
                <a:latin typeface="Arial"/>
              </a:defRPr>
            </a:pPr>
            <a:r>
              <a:t>Clinic Practice ('We Do')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2055"/>
                </a:solidFill>
              </a:rPr>
              <a:t>• Open Notebook: </a:t>
            </a:r>
            <a:r>
              <a:rPr sz="1300">
                <a:solidFill>
                  <a:srgbClr val="1E293B"/>
                </a:solidFill>
              </a:rPr>
              <a:t>Open content/notebooks/unit_05_ds_to_engine.ipynb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2055"/>
                </a:solidFill>
              </a:rPr>
              <a:t>• Run Baseline: </a:t>
            </a:r>
            <a:r>
              <a:rPr sz="1300">
                <a:solidFill>
                  <a:srgbClr val="1E293B"/>
                </a:solidFill>
              </a:rPr>
              <a:t>Execute Cells 1-3 to reproduce the baseline naive bottleneck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2055"/>
                </a:solidFill>
              </a:rPr>
              <a:t>• Live Refactoring: </a:t>
            </a:r>
            <a:r>
              <a:rPr sz="1300">
                <a:solidFill>
                  <a:srgbClr val="1E293B"/>
                </a:solidFill>
              </a:rPr>
              <a:t>Implement Cell 4 together using the modern engine syntax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2055"/>
                </a:solidFill>
              </a:rPr>
              <a:t>• Verify Parity: </a:t>
            </a:r>
            <a:r>
              <a:rPr sz="1300">
                <a:solidFill>
                  <a:srgbClr val="1E293B"/>
                </a:solidFill>
              </a:rPr>
              <a:t>Run Cell 7 assertion tests to confirm green test status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FFDF0"/>
          </a:solidFill>
          <a:ln w="19050">
            <a:solidFill>
              <a:srgbClr val="F0C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1400"/>
              </a:spcAft>
              <a:defRPr sz="1800" b="1">
                <a:solidFill>
                  <a:srgbClr val="8C5F00"/>
                </a:solidFill>
                <a:latin typeface="Arial"/>
              </a:defRPr>
            </a:pPr>
            <a:r>
              <a:t>Defensive Challenge ('You Do')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8C5F00"/>
                </a:solidFill>
              </a:rPr>
              <a:t>• Injected Scenario: </a:t>
            </a:r>
            <a:r>
              <a:rPr sz="1300">
                <a:solidFill>
                  <a:srgbClr val="1E293B"/>
                </a:solidFill>
              </a:rPr>
              <a:t>Malformed JSON Payloads &amp; Massive Distributed Traffic Bursts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8C5F00"/>
                </a:solidFill>
              </a:rPr>
              <a:t>• Defensive Gate: </a:t>
            </a:r>
            <a:r>
              <a:rPr sz="1300">
                <a:solidFill>
                  <a:srgbClr val="1E293B"/>
                </a:solidFill>
              </a:rPr>
              <a:t>Rate-limiting middleware and Pydantic field validators with custom regex constraints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8C5F00"/>
                </a:solidFill>
              </a:rPr>
              <a:t>• Student Mission: </a:t>
            </a:r>
            <a:r>
              <a:rPr sz="1300">
                <a:solidFill>
                  <a:srgbClr val="1E293B"/>
                </a:solidFill>
              </a:rPr>
              <a:t>Modify the engine code in Cell 8 to handle this edge case without terminating the pipeline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8C5F00"/>
                </a:solidFill>
              </a:rPr>
              <a:t>• Submission: </a:t>
            </a:r>
            <a:r>
              <a:rPr sz="1300">
                <a:solidFill>
                  <a:srgbClr val="1E293B"/>
                </a:solidFill>
              </a:rPr>
              <a:t>Verify green test status before the end of class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2055"/>
                </a:solidFill>
                <a:latin typeface="Arial"/>
              </a:defRPr>
            </a:pPr>
            <a:r>
              <a:t>KEY TAKEAWAYS &amp; NEXT STEPS</a:t>
            </a:r>
          </a:p>
          <a:p>
            <a:pPr>
              <a:spcAft>
                <a:spcPts val="200"/>
              </a:spcAft>
              <a:defRPr sz="2000" b="1">
                <a:solidFill>
                  <a:srgbClr val="0A2540"/>
                </a:solidFill>
                <a:latin typeface="Arial"/>
              </a:defRPr>
            </a:pPr>
            <a:r>
              <a:t>Clinic Summary &amp; Bridge to Lab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Solidifying Unit 05 Competencies for Applied Production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1400"/>
              </a:spcAft>
              <a:defRPr sz="1700" b="1">
                <a:solidFill>
                  <a:srgbClr val="002055"/>
                </a:solidFill>
                <a:latin typeface="Arial"/>
              </a:defRPr>
            </a:pPr>
            <a:r>
              <a:t>Architectural Takeaways &amp; Preparation for Slot 3/4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2055"/>
                </a:solidFill>
                <a:latin typeface="Calibri"/>
              </a:rPr>
              <a:t>► Core Principle: </a:t>
            </a:r>
            <a:r>
              <a:rPr sz="1400">
                <a:solidFill>
                  <a:srgbClr val="1E293B"/>
                </a:solidFill>
                <a:latin typeface="Calibri"/>
              </a:rPr>
              <a:t>Data engineers must build resilient APIs that defend themselves against bad client data.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2055"/>
                </a:solidFill>
                <a:latin typeface="Calibri"/>
              </a:rPr>
              <a:t>► Pydantic v2 Power: </a:t>
            </a:r>
            <a:r>
              <a:rPr sz="1400">
                <a:solidFill>
                  <a:srgbClr val="1E293B"/>
                </a:solidFill>
                <a:latin typeface="Calibri"/>
              </a:rPr>
              <a:t>Rust-backed data validation ensures zero performance penalty for bulletproof type safety.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2055"/>
                </a:solidFill>
                <a:latin typeface="Calibri"/>
              </a:rPr>
              <a:t>► Bridge to Slot 3/4 Lab: </a:t>
            </a:r>
            <a:r>
              <a:rPr sz="1400">
                <a:solidFill>
                  <a:srgbClr val="1E293B"/>
                </a:solidFill>
                <a:latin typeface="Calibri"/>
              </a:rPr>
              <a:t>In the lab, you will build and containerize a production FastAPI Data-as-a-Service layer.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2055"/>
                </a:solidFill>
                <a:latin typeface="Calibri"/>
              </a:rPr>
              <a:t>► Preparation: </a:t>
            </a:r>
            <a:r>
              <a:rPr sz="1400">
                <a:solidFill>
                  <a:srgbClr val="1E293B"/>
                </a:solidFill>
                <a:latin typeface="Calibri"/>
              </a:rPr>
              <a:t>Review async/await syntax and Pydantic validation decorators before the Slot 4 lab.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